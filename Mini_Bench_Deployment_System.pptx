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pt1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3A943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84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CLOVER INFOTECH PVT LTD</a:t>
            </a:r>
            <a:endParaRPr lang="en-US" sz="1100" dirty="0"/>
          </a:p>
        </p:txBody>
      </p:sp>
      <p:pic>
        <p:nvPicPr>
          <p:cNvPr id="5" name="Image 1" descr="/home/claude/work/ppt1_unpacked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384048"/>
            <a:ext cx="2651760" cy="7040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792" y="13258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232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BENCH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53A9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SYSTEM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658368" y="26974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Workforce Deployment &amp; Bench Optimization Platform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8368" y="3246120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THE PLATFORM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8368" y="3547872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platform reduces bench idle time and accelerates project staffing efficiency — giving leadership a faster, data-driven path from available talent to active deployment.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8368" y="51663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58368" y="5440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 Chaudhari  •  Vaibhav Mishra  •  Vaibhav Nhayade  •  Swapnil Mayavanshi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3A94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673352"/>
            <a:ext cx="502920" cy="50292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6" name="Image 0" descr="/home/claude/work/icons_white/image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713" y="1728673"/>
            <a:ext cx="392278" cy="392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184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Manual, Spreadsheet-Based Staffing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allocation decisions rely on manual spreadsheet tracking, slowing responsiveness.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673352"/>
            <a:ext cx="502920" cy="50292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1" name="Image 1" descr="/home/claude/work/icons_white/image-2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553" y="1728673"/>
            <a:ext cx="392278" cy="3922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6184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Identification of Resources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2860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the right skilled employee for an open project takes far longer than it should.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4360" y="32004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" y="3456432"/>
            <a:ext cx="502920" cy="50292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6" name="Image 2" descr="/home/claude/work/icons_white/image-2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13" y="3511753"/>
            <a:ext cx="392278" cy="3922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015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Prolonged Bench Duration Increases Cost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" y="40690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Idle bench time directly increases organizational cost without corresponding delivery value.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2004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456432"/>
            <a:ext cx="502920" cy="50292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21" name="Image 3" descr="/home/claude/work/icons_white/image-2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553" y="3511753"/>
            <a:ext cx="392278" cy="3922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4015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Visibility into Skills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0690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lacks a consolidated view of skill availability and deployment priorities.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4360" y="502920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232D28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0292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matters: workforce utilization, delivery readiness, and employee engagement all depend on how quickly bench talent is deployed.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CLOVER INFOTECH PVT LTD  •  MINI BENCH DEPLOYMENT SYSTEM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3A94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 &amp;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6535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7666" y="1033272"/>
            <a:ext cx="384048" cy="384048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6" name="Image 0" descr="/home/claude/work/icons_white/image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911" y="1075517"/>
            <a:ext cx="299557" cy="2995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1463040"/>
            <a:ext cx="15072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Data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 rot="5400000">
            <a:off x="2156460" y="1248156"/>
            <a:ext cx="237744" cy="201168"/>
          </a:xfrm>
          <a:prstGeom prst="triangle">
            <a:avLst/>
          </a:prstGeom>
          <a:solidFill>
            <a:srgbClr val="53A943"/>
          </a:solidFill>
          <a:ln/>
        </p:spPr>
      </p:sp>
      <p:sp>
        <p:nvSpPr>
          <p:cNvPr id="9" name="Shape 6"/>
          <p:cNvSpPr/>
          <p:nvPr/>
        </p:nvSpPr>
        <p:spPr>
          <a:xfrm>
            <a:off x="2412492" y="914400"/>
            <a:ext cx="16535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47238" y="1033272"/>
            <a:ext cx="384048" cy="384048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1" name="Image 1" descr="/home/claude/work/icons_white/image-3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83" y="1075517"/>
            <a:ext cx="299557" cy="2995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85644" y="1463040"/>
            <a:ext cx="15072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Extraction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rot="5400000">
            <a:off x="4066032" y="1248156"/>
            <a:ext cx="237744" cy="201168"/>
          </a:xfrm>
          <a:prstGeom prst="triangle">
            <a:avLst/>
          </a:prstGeom>
          <a:solidFill>
            <a:srgbClr val="53A943"/>
          </a:solidFill>
          <a:ln/>
        </p:spPr>
      </p:sp>
      <p:sp>
        <p:nvSpPr>
          <p:cNvPr id="14" name="Shape 10"/>
          <p:cNvSpPr/>
          <p:nvPr/>
        </p:nvSpPr>
        <p:spPr>
          <a:xfrm>
            <a:off x="4322064" y="914400"/>
            <a:ext cx="16535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56810" y="1033272"/>
            <a:ext cx="384048" cy="384048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6" name="Image 2" descr="/home/claude/work/icons_white/image-3-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055" y="1075517"/>
            <a:ext cx="299557" cy="2995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95216" y="1463040"/>
            <a:ext cx="15072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 rot="5400000">
            <a:off x="5975604" y="1248156"/>
            <a:ext cx="237744" cy="201168"/>
          </a:xfrm>
          <a:prstGeom prst="triangle">
            <a:avLst/>
          </a:prstGeom>
          <a:solidFill>
            <a:srgbClr val="53A943"/>
          </a:solidFill>
          <a:ln/>
        </p:spPr>
      </p:sp>
      <p:sp>
        <p:nvSpPr>
          <p:cNvPr id="19" name="Shape 14"/>
          <p:cNvSpPr/>
          <p:nvPr/>
        </p:nvSpPr>
        <p:spPr>
          <a:xfrm>
            <a:off x="6231636" y="914400"/>
            <a:ext cx="16535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66382" y="1033272"/>
            <a:ext cx="384048" cy="384048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21" name="Image 3" descr="/home/claude/work/icons_white/image-3-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627" y="1075517"/>
            <a:ext cx="299557" cy="2995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4788" y="1463040"/>
            <a:ext cx="15072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Analytics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 rot="5400000">
            <a:off x="7885176" y="1248156"/>
            <a:ext cx="237744" cy="201168"/>
          </a:xfrm>
          <a:prstGeom prst="triangle">
            <a:avLst/>
          </a:prstGeom>
          <a:solidFill>
            <a:srgbClr val="53A943"/>
          </a:solidFill>
          <a:ln/>
        </p:spPr>
      </p:sp>
      <p:sp>
        <p:nvSpPr>
          <p:cNvPr id="24" name="Shape 18"/>
          <p:cNvSpPr/>
          <p:nvPr/>
        </p:nvSpPr>
        <p:spPr>
          <a:xfrm>
            <a:off x="8141208" y="914400"/>
            <a:ext cx="1653540" cy="868680"/>
          </a:xfrm>
          <a:prstGeom prst="roundRect">
            <a:avLst>
              <a:gd name="adj" fmla="val 7368"/>
            </a:avLst>
          </a:prstGeom>
          <a:solidFill>
            <a:srgbClr val="EBF7E8"/>
          </a:solidFill>
          <a:ln w="19050">
            <a:solidFill>
              <a:srgbClr val="53A94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775954" y="1033272"/>
            <a:ext cx="384048" cy="384048"/>
          </a:xfrm>
          <a:prstGeom prst="ellipse">
            <a:avLst/>
          </a:prstGeom>
          <a:solidFill>
            <a:srgbClr val="232D28"/>
          </a:solidFill>
          <a:ln/>
        </p:spPr>
      </p:sp>
      <p:pic>
        <p:nvPicPr>
          <p:cNvPr id="26" name="Image 4" descr="/home/claude/work/icons_white/image-3-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199" y="1075517"/>
            <a:ext cx="299557" cy="29955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14360" y="1463040"/>
            <a:ext cx="15072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Matching Engine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 rot="5400000">
            <a:off x="9794748" y="1248156"/>
            <a:ext cx="237744" cy="201168"/>
          </a:xfrm>
          <a:prstGeom prst="triangle">
            <a:avLst/>
          </a:prstGeom>
          <a:solidFill>
            <a:srgbClr val="53A943"/>
          </a:solidFill>
          <a:ln/>
        </p:spPr>
      </p:sp>
      <p:sp>
        <p:nvSpPr>
          <p:cNvPr id="29" name="Shape 22"/>
          <p:cNvSpPr/>
          <p:nvPr/>
        </p:nvSpPr>
        <p:spPr>
          <a:xfrm>
            <a:off x="10050780" y="914400"/>
            <a:ext cx="16535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685526" y="1033272"/>
            <a:ext cx="384048" cy="384048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31" name="Image 5" descr="/home/claude/work/icons_white/image-3-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7771" y="1075517"/>
            <a:ext cx="299557" cy="29955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123932" y="1463040"/>
            <a:ext cx="15072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Output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502920" y="203911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AGEING ANALYSIS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02920" y="229514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duration is calculated from each employee's bench start date and mapped to a priority flag: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88920"/>
          <a:ext cx="5440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77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Days on Bench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D28"/>
                          </a:solidFill>
                        </a:rPr>
                        <a:t>0–30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3A943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D28"/>
                          </a:solidFill>
                        </a:rPr>
                        <a:t>Normal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D28"/>
                          </a:solidFill>
                        </a:rPr>
                        <a:t>31–60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6A72B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D28"/>
                          </a:solidFill>
                        </a:rPr>
                        <a:t>Attention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D28"/>
                          </a:solidFill>
                        </a:rPr>
                        <a:t>61–90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7B39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D28"/>
                          </a:solidFill>
                        </a:rPr>
                        <a:t>High Priority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D28"/>
                          </a:solidFill>
                        </a:rPr>
                        <a:t>90+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64545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D28"/>
                          </a:solidFill>
                        </a:rPr>
                        <a:t>Critical — Immediate Deployment Needed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27"/>
          <p:cNvSpPr/>
          <p:nvPr/>
        </p:nvSpPr>
        <p:spPr>
          <a:xfrm>
            <a:off x="6263640" y="203911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TIERS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6263640" y="229514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Skill-matching output is classified into a status tier based on the employee's current match percentage: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788920"/>
          <a:ext cx="5440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88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3A943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D28"/>
                          </a:solidFill>
                        </a:rPr>
                        <a:t>Full Match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60"/>
                          </a:solidFill>
                        </a:rPr>
                        <a:t>Current match ≥ 80%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A72B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D28"/>
                          </a:solidFill>
                        </a:rPr>
                        <a:t>Needs Minimal Upskilling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60"/>
                          </a:solidFill>
                        </a:rPr>
                        <a:t>Current match 50–79%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● 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D28"/>
                          </a:solidFill>
                        </a:rPr>
                        <a:t>Not Suitable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660"/>
                          </a:solidFill>
                        </a:rPr>
                        <a:t>Current match &lt; 50%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29"/>
          <p:cNvSpPr/>
          <p:nvPr/>
        </p:nvSpPr>
        <p:spPr>
          <a:xfrm>
            <a:off x="502920" y="5184648"/>
            <a:ext cx="11201400" cy="384048"/>
          </a:xfrm>
          <a:prstGeom prst="roundRect">
            <a:avLst>
              <a:gd name="adj" fmla="val 50000"/>
            </a:avLst>
          </a:prstGeom>
          <a:solidFill>
            <a:srgbClr val="232D28"/>
          </a:solidFill>
          <a:ln/>
        </p:spPr>
      </p:sp>
      <p:sp>
        <p:nvSpPr>
          <p:cNvPr id="40" name="Text 30"/>
          <p:cNvSpPr/>
          <p:nvPr/>
        </p:nvSpPr>
        <p:spPr>
          <a:xfrm>
            <a:off x="502920" y="5184648"/>
            <a:ext cx="11201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Recommendation for Management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CLOVER INFOTECH PVT LTD  •  MINI BENCH DEPLOYMENT SYSTEM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3A94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Impact &amp; Leadership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Benefits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7" name="Image 0" descr="/home/claude/work/icons_white/image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4277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317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staffing decisions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127248"/>
            <a:ext cx="457200" cy="45720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0" name="Image 1" descr="/home/claude/work/icons_white/image-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3177540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0815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bench utilization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14400" y="3877056"/>
            <a:ext cx="457200" cy="45720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3" name="Image 2" descr="/home/claude/work/icons_white/image-4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3927348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83133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manual effort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14400" y="4626864"/>
            <a:ext cx="457200" cy="45720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6" name="Image 3" descr="/home/claude/work/icons_white/image-4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677156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58114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deployment transparency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172200" y="14173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492240" y="16916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Benefits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492240" y="2377440"/>
            <a:ext cx="457200" cy="45720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21" name="Image 4" descr="/home/claude/work/icons_white/image-4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2427732"/>
            <a:ext cx="356616" cy="3566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320" y="23317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Data-driven workforce planning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492240" y="3127248"/>
            <a:ext cx="457200" cy="45720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24" name="Image 5" descr="/home/claude/work/icons_white/image-4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532" y="3177540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32320" y="30815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identification of critical bench cases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492240" y="3877056"/>
            <a:ext cx="457200" cy="45720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27" name="Image 6" descr="/home/claude/work/icons_white/image-4-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532" y="3927348"/>
            <a:ext cx="356616" cy="35661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32320" y="383133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project readiness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492240" y="4626864"/>
            <a:ext cx="457200" cy="457200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30" name="Image 7" descr="/home/claude/work/icons_white/image-4-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532" y="4677156"/>
            <a:ext cx="356616" cy="35661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32320" y="458114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talent utilization strategy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594360" y="553212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232D28"/>
          </a:solidFill>
          <a:ln/>
        </p:spPr>
      </p:sp>
      <p:sp>
        <p:nvSpPr>
          <p:cNvPr id="33" name="Text 23"/>
          <p:cNvSpPr/>
          <p:nvPr/>
        </p:nvSpPr>
        <p:spPr>
          <a:xfrm>
            <a:off x="914400" y="55321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Transforms workforce deployment from a reactive process into a proactive management capability.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CLOVER INFOTECH PVT LTD  •  MINI BENCH DEPLOYMENT SYSTEM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3A94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232D28"/>
          </a:solidFill>
          <a:ln w="12700">
            <a:solidFill>
              <a:srgbClr val="232D2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53A94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  •  LIVE MVP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1: Current MVP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CSV-based intelligent skill matching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analytics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recommendation engine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4206240"/>
            <a:ext cx="2971800" cy="0"/>
          </a:xfrm>
          <a:prstGeom prst="line">
            <a:avLst/>
          </a:prstGeom>
          <a:noFill/>
          <a:ln w="9525">
            <a:solidFill>
              <a:srgbClr val="465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434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MVP is already operational and demonstrates the core workforce deployment capability.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691640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C8D3CC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691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2860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2: Web Platform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28803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691640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C8D3CC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691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UPCOMING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2860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3: AI-Driven Intelligence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28803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recommendations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Utilization forecasting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integration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Bench Deployment System enables Clover Infotech to improve workforce utilization, accelerate project staffing, and build a scalable talent deployment capability for future growth.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CLOVER INFOTECH PVT LTD  •  MINI BENCH DEPLOYMENT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3A94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Matching &amp; Tier Classification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384048" cy="384048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6" name="Image 0" descr="/home/claude/work/icons_white/image-2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485" y="1669877"/>
            <a:ext cx="299557" cy="2995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020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Scenario Data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224028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2402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Requirements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200400" y="2240280"/>
            <a:ext cx="232623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Python, SQL, AWS, Docker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" y="3273552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273552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Known Skills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200400" y="3273552"/>
            <a:ext cx="232623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Python, SQL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4306824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306824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Learning Skills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200400" y="4306824"/>
            <a:ext cx="232623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AWS, Docker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7240" y="5340096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5340096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Required Count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200400" y="5340096"/>
            <a:ext cx="232623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Skills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72200" y="1371600"/>
            <a:ext cx="5513832" cy="4892040"/>
          </a:xfrm>
          <a:prstGeom prst="roundRect">
            <a:avLst>
              <a:gd name="adj" fmla="val 1869"/>
            </a:avLst>
          </a:prstGeom>
          <a:solidFill>
            <a:srgbClr val="F4F7F5"/>
          </a:solidFill>
          <a:ln w="12700">
            <a:solidFill>
              <a:srgbClr val="D7E1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1627632"/>
            <a:ext cx="384048" cy="384048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22" name="Image 1" descr="/home/claude/work/icons_white/image-3-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765" y="1669877"/>
            <a:ext cx="299557" cy="29955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49440" y="1600200"/>
            <a:ext cx="4507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&amp; Scoring Result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446520" y="2240280"/>
            <a:ext cx="310896" cy="310896"/>
          </a:xfrm>
          <a:prstGeom prst="ellipse">
            <a:avLst/>
          </a:prstGeom>
          <a:solidFill>
            <a:srgbClr val="53A943"/>
          </a:solidFill>
          <a:ln/>
        </p:spPr>
      </p:sp>
      <p:sp>
        <p:nvSpPr>
          <p:cNvPr id="25" name="Text 21"/>
          <p:cNvSpPr/>
          <p:nvPr/>
        </p:nvSpPr>
        <p:spPr>
          <a:xfrm>
            <a:off x="6446520" y="2240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903720" y="2212848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Match (Drives Status Tier)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903720" y="2642616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matched known skills / 4 required =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(current pct)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903720" y="3026664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Minimal Upskilling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(50% ≤ 50% &lt; 80%)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446520" y="3520440"/>
            <a:ext cx="4965192" cy="0"/>
          </a:xfrm>
          <a:prstGeom prst="line">
            <a:avLst/>
          </a:prstGeom>
          <a:noFill/>
          <a:ln w="12700">
            <a:solidFill>
              <a:srgbClr val="D7E1D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46520" y="3685032"/>
            <a:ext cx="310896" cy="310896"/>
          </a:xfrm>
          <a:prstGeom prst="ellipse">
            <a:avLst/>
          </a:prstGeom>
          <a:solidFill>
            <a:srgbClr val="53A943"/>
          </a:solidFill>
          <a:ln/>
        </p:spPr>
      </p:sp>
      <p:sp>
        <p:nvSpPr>
          <p:cNvPr id="31" name="Text 27"/>
          <p:cNvSpPr/>
          <p:nvPr/>
        </p:nvSpPr>
        <p:spPr>
          <a:xfrm>
            <a:off x="6446520" y="3685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903720" y="3657600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(Tiebreaker Only)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903720" y="4087368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(2 known × 1.0) + (2 learning × 0.6) = 3.2 score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6903720" y="4471416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=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80.00%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(Learning skills grant partial credit)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446520" y="4965192"/>
            <a:ext cx="4965192" cy="0"/>
          </a:xfrm>
          <a:prstGeom prst="line">
            <a:avLst/>
          </a:prstGeom>
          <a:noFill/>
          <a:ln w="12700">
            <a:solidFill>
              <a:srgbClr val="D7E1D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446520" y="5129784"/>
            <a:ext cx="310896" cy="310896"/>
          </a:xfrm>
          <a:prstGeom prst="ellipse">
            <a:avLst/>
          </a:prstGeom>
          <a:solidFill>
            <a:srgbClr val="53A943"/>
          </a:solidFill>
          <a:ln/>
        </p:spPr>
      </p:sp>
      <p:sp>
        <p:nvSpPr>
          <p:cNvPr id="37" name="Text 33"/>
          <p:cNvSpPr/>
          <p:nvPr/>
        </p:nvSpPr>
        <p:spPr>
          <a:xfrm>
            <a:off x="6446520" y="5129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903720" y="5102352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Skills Output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6903720" y="5532120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Gaps identified: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AWS, Docker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6903720" y="5916168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skills do not bypass missing skill gaps for classification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CLOVER INFOTECH PVT LTD  •  MINI BENCH DEPLOYMENT SYSTEM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064240" y="6446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pt1_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3A943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384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CLOVER INFOTECH PVT LTD</a:t>
            </a:r>
            <a:endParaRPr lang="en-US" sz="1100" dirty="0"/>
          </a:p>
        </p:txBody>
      </p:sp>
      <p:pic>
        <p:nvPicPr>
          <p:cNvPr id="5" name="Image 1" descr="/home/claude/work/ppt1_unpacked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384048"/>
            <a:ext cx="2651760" cy="7040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792" y="123444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3A9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58368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Bench Deployment System  —  Intelligent Workforce Deployment &amp; Bench Optimization Platform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58368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3A9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58368" y="2971800"/>
            <a:ext cx="329184" cy="329184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0" name="Image 2" descr="/home/claude/work/icons_white/image-3-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78" y="3008010"/>
            <a:ext cx="256764" cy="2567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291693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bench idle time and accelerates project staffing efficiency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58368" y="3538728"/>
            <a:ext cx="329184" cy="329184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3" name="Image 3" descr="/home/claude/work/icons_white/image-3-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78" y="3574938"/>
            <a:ext cx="256764" cy="2567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0432" y="348386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Automates skill matching with transparent, data-driven scoring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58368" y="4105656"/>
            <a:ext cx="329184" cy="329184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6" name="Image 4" descr="/home/claude/work/icons_white/image-3-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78" y="4141866"/>
            <a:ext cx="256764" cy="2567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0432" y="40507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faster deployment decisions and better workforce utilization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58368" y="4672584"/>
            <a:ext cx="329184" cy="329184"/>
          </a:xfrm>
          <a:prstGeom prst="ellipse">
            <a:avLst/>
          </a:prstGeom>
          <a:solidFill>
            <a:srgbClr val="53A943"/>
          </a:solidFill>
          <a:ln/>
        </p:spPr>
      </p:sp>
      <p:pic>
        <p:nvPicPr>
          <p:cNvPr id="19" name="Image 5" descr="/home/claude/work/icons_white/image-3-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78" y="4708794"/>
            <a:ext cx="256764" cy="25676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70432" y="46177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roadmap — from live MVP to AI-driven enterprise platform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58368" y="5285232"/>
            <a:ext cx="10881360" cy="0"/>
          </a:xfrm>
          <a:prstGeom prst="line">
            <a:avLst/>
          </a:prstGeom>
          <a:noFill/>
          <a:ln w="12700">
            <a:solidFill>
              <a:srgbClr val="D7E1DA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658368" y="54955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658368" y="57698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 Chaudhari  •  Vaibhav Mishra  •  Vaibhav Nhayade  •  Swapnil Mayavanshi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58368" y="61356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questions or next steps, please reach out to the project team.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2026-08-17T07:03:00Z</dcterms:created>
  <dcterms:modified xsi:type="dcterms:W3CDTF">2026-08-17T07:03:00Z</dcterms:modified>
</cp:coreProperties>
</file>