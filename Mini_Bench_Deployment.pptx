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949C564-2EAB-4544-B79B-6C6EFC5536A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71712BC-2525-4C12-9268-137DAB4C29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A8F80D-E050-4C69-A267-AFCC20F2A44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A64A896-0B85-412C-9406-8DA079532C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3A48EB-0EBB-4B12-97ED-57E5DC1374A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B05B543-8F77-48B2-813C-9C28F12B18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46958FA-818D-4356-A036-561D9D7D0FC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9A65C0-E1DC-47FE-A331-DC11FEEB3E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/home/claude/work/ppt1_unpacked/ppt/media/image1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Shape 0"/>
          <p:cNvSpPr/>
          <p:nvPr/>
        </p:nvSpPr>
        <p:spPr>
          <a:xfrm>
            <a:off x="0" y="0"/>
            <a:ext cx="90720" cy="6857280"/>
          </a:xfrm>
          <a:prstGeom prst="rect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"/>
          <p:cNvSpPr/>
          <p:nvPr/>
        </p:nvSpPr>
        <p:spPr>
          <a:xfrm>
            <a:off x="594360" y="384120"/>
            <a:ext cx="34740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99" strike="noStrike">
                <a:solidFill>
                  <a:srgbClr val="53A943"/>
                </a:solidFill>
                <a:effectLst/>
                <a:uFillTx/>
                <a:latin typeface="Aptos"/>
                <a:ea typeface="Aptos"/>
              </a:rPr>
              <a:t>CLOVER INFOTECH PVT LTD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1" descr="/home/claude/work/ppt1_unpacked/ppt/media/image2.png"/>
          <p:cNvPicPr/>
          <p:nvPr/>
        </p:nvPicPr>
        <p:blipFill>
          <a:blip r:embed="rId2"/>
          <a:stretch/>
        </p:blipFill>
        <p:spPr>
          <a:xfrm>
            <a:off x="8732520" y="384120"/>
            <a:ext cx="26510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2"/>
          <p:cNvSpPr/>
          <p:nvPr/>
        </p:nvSpPr>
        <p:spPr>
          <a:xfrm>
            <a:off x="621720" y="1325880"/>
            <a:ext cx="960048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232D28"/>
                </a:solidFill>
                <a:effectLst/>
                <a:uFillTx/>
                <a:latin typeface="Aptos Display"/>
                <a:ea typeface="Aptos Display"/>
              </a:rPr>
              <a:t>MINI </a:t>
            </a:r>
            <a:r>
              <a:rPr lang="en-US" sz="4000" b="1" u="none" strike="noStrike">
                <a:solidFill>
                  <a:srgbClr val="232D28"/>
                </a:solidFill>
                <a:effectLst/>
                <a:uFillTx/>
                <a:latin typeface="Aptos Display"/>
                <a:ea typeface="Aptos Display"/>
              </a:rPr>
              <a:t>BENCH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53A943"/>
                </a:solidFill>
                <a:effectLst/>
                <a:uFillTx/>
                <a:latin typeface="Aptos Display"/>
                <a:ea typeface="Aptos Display"/>
              </a:rPr>
              <a:t>DEPLOY</a:t>
            </a:r>
            <a:r>
              <a:rPr lang="en-US" sz="4000" b="1" u="none" strike="noStrike">
                <a:solidFill>
                  <a:srgbClr val="53A943"/>
                </a:solidFill>
                <a:effectLst/>
                <a:uFillTx/>
                <a:latin typeface="Aptos Display"/>
                <a:ea typeface="Aptos Display"/>
              </a:rPr>
              <a:t>MENT </a:t>
            </a:r>
            <a:r>
              <a:rPr lang="en-US" sz="4000" b="1" u="none" strike="noStrike">
                <a:solidFill>
                  <a:srgbClr val="53A943"/>
                </a:solidFill>
                <a:effectLst/>
                <a:uFillTx/>
                <a:latin typeface="Aptos Display"/>
                <a:ea typeface="Aptos Display"/>
              </a:rPr>
              <a:t>SYSTEM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3"/>
          <p:cNvSpPr/>
          <p:nvPr/>
        </p:nvSpPr>
        <p:spPr>
          <a:xfrm>
            <a:off x="658440" y="2697480"/>
            <a:ext cx="8686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Intelligent Workforce </a:t>
            </a:r>
            <a:r>
              <a:rPr lang="en-US" sz="1400" b="0" i="1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Deployment &amp; Bench </a:t>
            </a:r>
            <a:r>
              <a:rPr lang="en-US" sz="1400" b="0" i="1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Optimization Platform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4"/>
          <p:cNvSpPr/>
          <p:nvPr/>
        </p:nvSpPr>
        <p:spPr>
          <a:xfrm>
            <a:off x="658440" y="3246120"/>
            <a:ext cx="6171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99" strike="noStrike">
                <a:solidFill>
                  <a:srgbClr val="53A943"/>
                </a:solidFill>
                <a:effectLst/>
                <a:uFillTx/>
                <a:latin typeface="Aptos"/>
                <a:ea typeface="Aptos"/>
              </a:rPr>
              <a:t>ABOUT THE PLATFORM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658440" y="3547800"/>
            <a:ext cx="667440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This platform reduces </a:t>
            </a:r>
            <a:r>
              <a:rPr lang="en-US" sz="1300" b="0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bench idle time and </a:t>
            </a:r>
            <a:r>
              <a:rPr lang="en-US" sz="1300" b="0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accelerates project staffing </a:t>
            </a:r>
            <a:r>
              <a:rPr lang="en-US" sz="1300" b="0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efficiency - giving </a:t>
            </a:r>
            <a:r>
              <a:rPr lang="en-US" sz="1300" b="0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leadership a faster, data-</a:t>
            </a:r>
            <a:r>
              <a:rPr lang="en-US" sz="1300" b="0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driven path from available </a:t>
            </a:r>
            <a:r>
              <a:rPr lang="en-US" sz="1300" b="0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talent to active deployment.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6"/>
          <p:cNvSpPr/>
          <p:nvPr/>
        </p:nvSpPr>
        <p:spPr>
          <a:xfrm>
            <a:off x="658440" y="5166360"/>
            <a:ext cx="6765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99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PRESENTED BY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7"/>
          <p:cNvSpPr/>
          <p:nvPr/>
        </p:nvSpPr>
        <p:spPr>
          <a:xfrm>
            <a:off x="658440" y="544068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Om Chaudhari  •  Vaibhav </a:t>
            </a:r>
            <a:r>
              <a:rPr lang="en-US" sz="13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Mishra  •  Vaibhav </a:t>
            </a:r>
            <a:r>
              <a:rPr lang="en-US" sz="13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Nhayade  •  Swapnil </a:t>
            </a:r>
            <a:r>
              <a:rPr lang="en-US" sz="13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Mayavanshi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90720" cy="6857280"/>
          </a:xfrm>
          <a:prstGeom prst="rect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594360" y="384120"/>
            <a:ext cx="10789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32D28"/>
                </a:solidFill>
                <a:effectLst/>
                <a:uFillTx/>
                <a:latin typeface="Aptos Display"/>
                <a:ea typeface="Aptos Display"/>
              </a:rPr>
              <a:t>The Business </a:t>
            </a:r>
            <a:r>
              <a:rPr lang="en-US" sz="3200" b="1" u="none" strike="noStrike">
                <a:solidFill>
                  <a:srgbClr val="232D28"/>
                </a:solidFill>
                <a:effectLst/>
                <a:uFillTx/>
                <a:latin typeface="Aptos Display"/>
                <a:ea typeface="Aptos Display"/>
              </a:rPr>
              <a:t>Problem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2"/>
          <p:cNvSpPr/>
          <p:nvPr/>
        </p:nvSpPr>
        <p:spPr>
          <a:xfrm>
            <a:off x="594360" y="1417320"/>
            <a:ext cx="5257080" cy="1599480"/>
          </a:xfrm>
          <a:prstGeom prst="roundRect">
            <a:avLst>
              <a:gd name="adj" fmla="val 4571"/>
            </a:avLst>
          </a:prstGeom>
          <a:solidFill>
            <a:srgbClr val="F4F7F5"/>
          </a:solidFill>
          <a:ln w="12700">
            <a:solidFill>
              <a:srgbClr val="D7E1DA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3"/>
          <p:cNvSpPr/>
          <p:nvPr/>
        </p:nvSpPr>
        <p:spPr>
          <a:xfrm>
            <a:off x="850320" y="1673280"/>
            <a:ext cx="502200" cy="50220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" name="Image 0" descr="/home/claude/work/icons_white/image-2-1.png"/>
          <p:cNvPicPr/>
          <p:nvPr/>
        </p:nvPicPr>
        <p:blipFill>
          <a:blip r:embed="rId1"/>
          <a:stretch/>
        </p:blipFill>
        <p:spPr>
          <a:xfrm>
            <a:off x="905760" y="1728720"/>
            <a:ext cx="391680" cy="39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ext 4"/>
          <p:cNvSpPr/>
          <p:nvPr/>
        </p:nvSpPr>
        <p:spPr>
          <a:xfrm>
            <a:off x="1508760" y="1618560"/>
            <a:ext cx="4114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Manual, Spreadsheet-Based Staffing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5"/>
          <p:cNvSpPr/>
          <p:nvPr/>
        </p:nvSpPr>
        <p:spPr>
          <a:xfrm>
            <a:off x="868680" y="2286000"/>
            <a:ext cx="4708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Bench allocation decisions rely on manual spreadsheet tracking, slowing responsiveness.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6"/>
          <p:cNvSpPr/>
          <p:nvPr/>
        </p:nvSpPr>
        <p:spPr>
          <a:xfrm>
            <a:off x="6172200" y="1417320"/>
            <a:ext cx="5257080" cy="1599480"/>
          </a:xfrm>
          <a:prstGeom prst="roundRect">
            <a:avLst>
              <a:gd name="adj" fmla="val 4571"/>
            </a:avLst>
          </a:prstGeom>
          <a:solidFill>
            <a:srgbClr val="F4F7F5"/>
          </a:solidFill>
          <a:ln w="12700">
            <a:solidFill>
              <a:srgbClr val="D7E1DA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7"/>
          <p:cNvSpPr/>
          <p:nvPr/>
        </p:nvSpPr>
        <p:spPr>
          <a:xfrm>
            <a:off x="6428160" y="1673280"/>
            <a:ext cx="502200" cy="50220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" name="Image 1" descr="/home/claude/work/icons_white/image-2-2.png"/>
          <p:cNvPicPr/>
          <p:nvPr/>
        </p:nvPicPr>
        <p:blipFill>
          <a:blip r:embed="rId2"/>
          <a:stretch/>
        </p:blipFill>
        <p:spPr>
          <a:xfrm>
            <a:off x="6483600" y="1728720"/>
            <a:ext cx="391680" cy="39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Text 8"/>
          <p:cNvSpPr/>
          <p:nvPr/>
        </p:nvSpPr>
        <p:spPr>
          <a:xfrm>
            <a:off x="7086600" y="1618560"/>
            <a:ext cx="4114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Slow Identification of Resources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9"/>
          <p:cNvSpPr/>
          <p:nvPr/>
        </p:nvSpPr>
        <p:spPr>
          <a:xfrm>
            <a:off x="6446520" y="2286000"/>
            <a:ext cx="4708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Finding the right skilled employee for an open project takes far longer than it should.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0"/>
          <p:cNvSpPr/>
          <p:nvPr/>
        </p:nvSpPr>
        <p:spPr>
          <a:xfrm>
            <a:off x="594360" y="3200400"/>
            <a:ext cx="5257080" cy="1599480"/>
          </a:xfrm>
          <a:prstGeom prst="roundRect">
            <a:avLst>
              <a:gd name="adj" fmla="val 4571"/>
            </a:avLst>
          </a:prstGeom>
          <a:solidFill>
            <a:srgbClr val="F4F7F5"/>
          </a:solidFill>
          <a:ln w="12700">
            <a:solidFill>
              <a:srgbClr val="D7E1DA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1"/>
          <p:cNvSpPr/>
          <p:nvPr/>
        </p:nvSpPr>
        <p:spPr>
          <a:xfrm>
            <a:off x="850320" y="3456360"/>
            <a:ext cx="502200" cy="50220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" name="Image 2" descr="/home/claude/work/icons_white/image-2-3.png"/>
          <p:cNvPicPr/>
          <p:nvPr/>
        </p:nvPicPr>
        <p:blipFill>
          <a:blip r:embed="rId3"/>
          <a:stretch/>
        </p:blipFill>
        <p:spPr>
          <a:xfrm>
            <a:off x="905760" y="3511800"/>
            <a:ext cx="391680" cy="39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ext 12"/>
          <p:cNvSpPr/>
          <p:nvPr/>
        </p:nvSpPr>
        <p:spPr>
          <a:xfrm>
            <a:off x="1508760" y="3401640"/>
            <a:ext cx="4114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Prolonged Bench Duration Increases Cost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868680" y="4069080"/>
            <a:ext cx="4708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Idle bench time directly increases organizational cost without corresponding delivery value.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4"/>
          <p:cNvSpPr/>
          <p:nvPr/>
        </p:nvSpPr>
        <p:spPr>
          <a:xfrm>
            <a:off x="6172200" y="3200400"/>
            <a:ext cx="5257080" cy="1599480"/>
          </a:xfrm>
          <a:prstGeom prst="roundRect">
            <a:avLst>
              <a:gd name="adj" fmla="val 4571"/>
            </a:avLst>
          </a:prstGeom>
          <a:solidFill>
            <a:srgbClr val="F4F7F5"/>
          </a:solidFill>
          <a:ln w="12700">
            <a:solidFill>
              <a:srgbClr val="D7E1DA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6428160" y="3456360"/>
            <a:ext cx="502200" cy="50220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" name="Image 3" descr="/home/claude/work/icons_white/image-2-4.png"/>
          <p:cNvPicPr/>
          <p:nvPr/>
        </p:nvPicPr>
        <p:blipFill>
          <a:blip r:embed="rId4"/>
          <a:stretch/>
        </p:blipFill>
        <p:spPr>
          <a:xfrm>
            <a:off x="6483600" y="3511800"/>
            <a:ext cx="391680" cy="39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Text 16"/>
          <p:cNvSpPr/>
          <p:nvPr/>
        </p:nvSpPr>
        <p:spPr>
          <a:xfrm>
            <a:off x="7086600" y="3401640"/>
            <a:ext cx="4114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Limited Visibility into Skills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7"/>
          <p:cNvSpPr/>
          <p:nvPr/>
        </p:nvSpPr>
        <p:spPr>
          <a:xfrm>
            <a:off x="6446520" y="4069080"/>
            <a:ext cx="4708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Leadership lacks a consolidated view of skill availability and deployment priorities.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594360" y="5029200"/>
            <a:ext cx="10972080" cy="685080"/>
          </a:xfrm>
          <a:prstGeom prst="roundRect">
            <a:avLst>
              <a:gd name="adj" fmla="val 10667"/>
            </a:avLst>
          </a:prstGeom>
          <a:solidFill>
            <a:srgbClr val="232D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9"/>
          <p:cNvSpPr/>
          <p:nvPr/>
        </p:nvSpPr>
        <p:spPr>
          <a:xfrm>
            <a:off x="914400" y="5029200"/>
            <a:ext cx="103320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Why this matters: workforce utilization, delivery readiness, and employee engagement all depend on how quickly bench talent is deployed.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0"/>
          <p:cNvSpPr/>
          <p:nvPr/>
        </p:nvSpPr>
        <p:spPr>
          <a:xfrm>
            <a:off x="502920" y="6473880"/>
            <a:ext cx="8046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CLOVER INFOTECH PVT LTD  •  MINI BENCH DEPLOYMENT SYSTEM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21"/>
          <p:cNvSpPr/>
          <p:nvPr/>
        </p:nvSpPr>
        <p:spPr>
          <a:xfrm>
            <a:off x="11064240" y="6446520"/>
            <a:ext cx="5479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53A943"/>
                </a:solidFill>
                <a:effectLst/>
                <a:uFillTx/>
                <a:latin typeface="Aptos"/>
                <a:ea typeface="Aptos"/>
              </a:rPr>
              <a:t>02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0"/>
          <p:cNvSpPr/>
          <p:nvPr/>
        </p:nvSpPr>
        <p:spPr>
          <a:xfrm>
            <a:off x="0" y="0"/>
            <a:ext cx="90720" cy="6857280"/>
          </a:xfrm>
          <a:prstGeom prst="rect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"/>
          <p:cNvSpPr/>
          <p:nvPr/>
        </p:nvSpPr>
        <p:spPr>
          <a:xfrm>
            <a:off x="594360" y="292680"/>
            <a:ext cx="10789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232D28"/>
                </a:solidFill>
                <a:effectLst/>
                <a:uFillTx/>
                <a:latin typeface="Aptos Display"/>
                <a:ea typeface="Aptos Display"/>
              </a:rPr>
              <a:t>Solution Architecture &amp; Workflow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"/>
          <p:cNvSpPr/>
          <p:nvPr/>
        </p:nvSpPr>
        <p:spPr>
          <a:xfrm>
            <a:off x="594360" y="960120"/>
            <a:ext cx="3001680" cy="24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99" strike="noStrike">
                <a:solidFill>
                  <a:srgbClr val="53A943"/>
                </a:solidFill>
                <a:effectLst/>
                <a:uFillTx/>
                <a:latin typeface="Aptos"/>
                <a:ea typeface="Aptos"/>
              </a:rPr>
              <a:t>INPUT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3"/>
          <p:cNvSpPr/>
          <p:nvPr/>
        </p:nvSpPr>
        <p:spPr>
          <a:xfrm>
            <a:off x="594360" y="1258560"/>
            <a:ext cx="3015000" cy="8535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7E1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756000" y="1418760"/>
            <a:ext cx="537840" cy="53352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" name="Image 0" descr="/home/claude/work/icons_white/image-3-1.png"/>
          <p:cNvPicPr/>
          <p:nvPr/>
        </p:nvPicPr>
        <p:blipFill>
          <a:blip r:embed="rId1"/>
          <a:stretch/>
        </p:blipFill>
        <p:spPr>
          <a:xfrm>
            <a:off x="815040" y="1477800"/>
            <a:ext cx="419760" cy="41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Text 5"/>
          <p:cNvSpPr/>
          <p:nvPr/>
        </p:nvSpPr>
        <p:spPr>
          <a:xfrm>
            <a:off x="1402200" y="1430640"/>
            <a:ext cx="204552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employees.csv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6"/>
          <p:cNvSpPr/>
          <p:nvPr/>
        </p:nvSpPr>
        <p:spPr>
          <a:xfrm>
            <a:off x="1402200" y="1707480"/>
            <a:ext cx="20455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Bench employee records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7"/>
          <p:cNvSpPr/>
          <p:nvPr/>
        </p:nvSpPr>
        <p:spPr>
          <a:xfrm>
            <a:off x="3933000" y="1258560"/>
            <a:ext cx="3015000" cy="8535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7E1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8"/>
          <p:cNvSpPr/>
          <p:nvPr/>
        </p:nvSpPr>
        <p:spPr>
          <a:xfrm>
            <a:off x="4094640" y="1418760"/>
            <a:ext cx="537840" cy="53352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1" descr="/home/claude/work/icons_white/image-3-2.png"/>
          <p:cNvPicPr/>
          <p:nvPr/>
        </p:nvPicPr>
        <p:blipFill>
          <a:blip r:embed="rId2"/>
          <a:stretch/>
        </p:blipFill>
        <p:spPr>
          <a:xfrm>
            <a:off x="4154040" y="1477800"/>
            <a:ext cx="419400" cy="41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9"/>
          <p:cNvSpPr/>
          <p:nvPr/>
        </p:nvSpPr>
        <p:spPr>
          <a:xfrm>
            <a:off x="4740840" y="1430640"/>
            <a:ext cx="204552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open_projects.csv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0"/>
          <p:cNvSpPr/>
          <p:nvPr/>
        </p:nvSpPr>
        <p:spPr>
          <a:xfrm>
            <a:off x="4740840" y="1707480"/>
            <a:ext cx="20455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Open project requirements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11"/>
          <p:cNvSpPr/>
          <p:nvPr/>
        </p:nvSpPr>
        <p:spPr>
          <a:xfrm>
            <a:off x="7271640" y="1258560"/>
            <a:ext cx="3015000" cy="8535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7E1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2"/>
          <p:cNvSpPr/>
          <p:nvPr/>
        </p:nvSpPr>
        <p:spPr>
          <a:xfrm>
            <a:off x="7433280" y="1418760"/>
            <a:ext cx="537840" cy="53352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" name="Image 2" descr="/home/claude/work/icons_white/image-3-3.png"/>
          <p:cNvPicPr/>
          <p:nvPr/>
        </p:nvPicPr>
        <p:blipFill>
          <a:blip r:embed="rId3"/>
          <a:stretch/>
        </p:blipFill>
        <p:spPr>
          <a:xfrm>
            <a:off x="7492680" y="1477800"/>
            <a:ext cx="419400" cy="41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Text 13"/>
          <p:cNvSpPr/>
          <p:nvPr/>
        </p:nvSpPr>
        <p:spPr>
          <a:xfrm>
            <a:off x="8079480" y="1430640"/>
            <a:ext cx="204552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total_employees.txt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4"/>
          <p:cNvSpPr/>
          <p:nvPr/>
        </p:nvSpPr>
        <p:spPr>
          <a:xfrm>
            <a:off x="8079480" y="1707480"/>
            <a:ext cx="20455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Company headcount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5"/>
          <p:cNvSpPr/>
          <p:nvPr/>
        </p:nvSpPr>
        <p:spPr>
          <a:xfrm>
            <a:off x="594360" y="2294640"/>
            <a:ext cx="43074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99" strike="noStrike">
                <a:solidFill>
                  <a:srgbClr val="53A943"/>
                </a:solidFill>
                <a:effectLst/>
                <a:uFillTx/>
                <a:latin typeface="Aptos"/>
                <a:ea typeface="Aptos"/>
              </a:rPr>
              <a:t>PROCESSING PIPELINE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6"/>
          <p:cNvSpPr/>
          <p:nvPr/>
        </p:nvSpPr>
        <p:spPr>
          <a:xfrm>
            <a:off x="594360" y="2615400"/>
            <a:ext cx="9692280" cy="4478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7E1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17"/>
          <p:cNvSpPr/>
          <p:nvPr/>
        </p:nvSpPr>
        <p:spPr>
          <a:xfrm>
            <a:off x="723600" y="2679480"/>
            <a:ext cx="322560" cy="31932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7" name="Image 3" descr="/home/claude/work/icons_white/image-3-4.png"/>
          <p:cNvPicPr/>
          <p:nvPr/>
        </p:nvPicPr>
        <p:blipFill>
          <a:blip r:embed="rId4"/>
          <a:stretch/>
        </p:blipFill>
        <p:spPr>
          <a:xfrm>
            <a:off x="759240" y="2714760"/>
            <a:ext cx="251280" cy="24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 18"/>
          <p:cNvSpPr/>
          <p:nvPr/>
        </p:nvSpPr>
        <p:spPr>
          <a:xfrm>
            <a:off x="1186560" y="2615400"/>
            <a:ext cx="247644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Data Extraction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9"/>
          <p:cNvSpPr/>
          <p:nvPr/>
        </p:nvSpPr>
        <p:spPr>
          <a:xfrm>
            <a:off x="3717720" y="2615400"/>
            <a:ext cx="635364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Read &amp; validate workforce and project data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0"/>
          <p:cNvSpPr/>
          <p:nvPr/>
        </p:nvSpPr>
        <p:spPr>
          <a:xfrm>
            <a:off x="594360" y="3149640"/>
            <a:ext cx="9692280" cy="44748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7E1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21"/>
          <p:cNvSpPr/>
          <p:nvPr/>
        </p:nvSpPr>
        <p:spPr>
          <a:xfrm>
            <a:off x="723600" y="3213360"/>
            <a:ext cx="322560" cy="31968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2" name="Image 4" descr="/home/claude/work/icons_white/image-3-5.png"/>
          <p:cNvPicPr/>
          <p:nvPr/>
        </p:nvPicPr>
        <p:blipFill>
          <a:blip r:embed="rId5"/>
          <a:stretch/>
        </p:blipFill>
        <p:spPr>
          <a:xfrm>
            <a:off x="759240" y="3248640"/>
            <a:ext cx="251280" cy="24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ext 22"/>
          <p:cNvSpPr/>
          <p:nvPr/>
        </p:nvSpPr>
        <p:spPr>
          <a:xfrm>
            <a:off x="1186560" y="3149640"/>
            <a:ext cx="247644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Data Modeling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3"/>
          <p:cNvSpPr/>
          <p:nvPr/>
        </p:nvSpPr>
        <p:spPr>
          <a:xfrm>
            <a:off x="3717720" y="3149640"/>
            <a:ext cx="635364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Standardize employee and project entities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24"/>
          <p:cNvSpPr/>
          <p:nvPr/>
        </p:nvSpPr>
        <p:spPr>
          <a:xfrm>
            <a:off x="594360" y="3683520"/>
            <a:ext cx="9692280" cy="44820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7E1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5"/>
          <p:cNvSpPr/>
          <p:nvPr/>
        </p:nvSpPr>
        <p:spPr>
          <a:xfrm>
            <a:off x="723600" y="3747600"/>
            <a:ext cx="322560" cy="31932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" name="Image 5" descr="/home/claude/work/icons_white/image-3-6.png"/>
          <p:cNvPicPr/>
          <p:nvPr/>
        </p:nvPicPr>
        <p:blipFill>
          <a:blip r:embed="rId6"/>
          <a:stretch/>
        </p:blipFill>
        <p:spPr>
          <a:xfrm>
            <a:off x="759240" y="3782880"/>
            <a:ext cx="251280" cy="24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Text 26"/>
          <p:cNvSpPr/>
          <p:nvPr/>
        </p:nvSpPr>
        <p:spPr>
          <a:xfrm>
            <a:off x="1186560" y="3683520"/>
            <a:ext cx="247644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Bench Analytics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7"/>
          <p:cNvSpPr/>
          <p:nvPr/>
        </p:nvSpPr>
        <p:spPr>
          <a:xfrm>
            <a:off x="3717720" y="3683520"/>
            <a:ext cx="635364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Calculate bench days and ageing priority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8"/>
          <p:cNvSpPr/>
          <p:nvPr/>
        </p:nvSpPr>
        <p:spPr>
          <a:xfrm>
            <a:off x="594360" y="4271040"/>
            <a:ext cx="9692280" cy="768240"/>
          </a:xfrm>
          <a:prstGeom prst="roundRect">
            <a:avLst>
              <a:gd name="adj" fmla="val 11111"/>
            </a:avLst>
          </a:prstGeom>
          <a:solidFill>
            <a:srgbClr val="EBF7E8"/>
          </a:solidFill>
          <a:ln w="19050">
            <a:solidFill>
              <a:srgbClr val="53A9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9"/>
          <p:cNvSpPr/>
          <p:nvPr/>
        </p:nvSpPr>
        <p:spPr>
          <a:xfrm>
            <a:off x="766440" y="4388400"/>
            <a:ext cx="537840" cy="533520"/>
          </a:xfrm>
          <a:prstGeom prst="ellipse">
            <a:avLst/>
          </a:prstGeom>
          <a:solidFill>
            <a:srgbClr val="232D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2" name="Image 6" descr="/home/claude/work/icons_white/image-3-7.png"/>
          <p:cNvPicPr/>
          <p:nvPr/>
        </p:nvPicPr>
        <p:blipFill>
          <a:blip r:embed="rId7"/>
          <a:stretch/>
        </p:blipFill>
        <p:spPr>
          <a:xfrm>
            <a:off x="826200" y="4447440"/>
            <a:ext cx="419040" cy="41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Text 30"/>
          <p:cNvSpPr/>
          <p:nvPr/>
        </p:nvSpPr>
        <p:spPr>
          <a:xfrm>
            <a:off x="1509840" y="4356720"/>
            <a:ext cx="8507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Skill Matching Engine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31"/>
          <p:cNvSpPr/>
          <p:nvPr/>
        </p:nvSpPr>
        <p:spPr>
          <a:xfrm>
            <a:off x="1509840" y="4655520"/>
            <a:ext cx="8507520" cy="34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Compare employee skills with project requirements and generate match scores, suitability, and deployment recommendations.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32"/>
          <p:cNvSpPr/>
          <p:nvPr/>
        </p:nvSpPr>
        <p:spPr>
          <a:xfrm>
            <a:off x="594360" y="5232600"/>
            <a:ext cx="32302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99" strike="noStrike">
                <a:solidFill>
                  <a:srgbClr val="53A943"/>
                </a:solidFill>
                <a:effectLst/>
                <a:uFillTx/>
                <a:latin typeface="Aptos"/>
                <a:ea typeface="Aptos"/>
              </a:rPr>
              <a:t>OUTPUT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33"/>
          <p:cNvSpPr/>
          <p:nvPr/>
        </p:nvSpPr>
        <p:spPr>
          <a:xfrm>
            <a:off x="594360" y="5553360"/>
            <a:ext cx="4684320" cy="6184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7E1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34"/>
          <p:cNvSpPr/>
          <p:nvPr/>
        </p:nvSpPr>
        <p:spPr>
          <a:xfrm>
            <a:off x="745560" y="5649120"/>
            <a:ext cx="429840" cy="42660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" name="Image 7" descr="/home/claude/work/icons_white/image-3-8.png"/>
          <p:cNvPicPr/>
          <p:nvPr/>
        </p:nvPicPr>
        <p:blipFill>
          <a:blip r:embed="rId8"/>
          <a:stretch/>
        </p:blipFill>
        <p:spPr>
          <a:xfrm>
            <a:off x="792360" y="5695920"/>
            <a:ext cx="335160" cy="33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ext 35"/>
          <p:cNvSpPr/>
          <p:nvPr/>
        </p:nvSpPr>
        <p:spPr>
          <a:xfrm>
            <a:off x="1294560" y="5585040"/>
            <a:ext cx="3822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Bench Ageing Report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36"/>
          <p:cNvSpPr/>
          <p:nvPr/>
        </p:nvSpPr>
        <p:spPr>
          <a:xfrm>
            <a:off x="1294560" y="5895000"/>
            <a:ext cx="3822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Priority view of long-idle talent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37"/>
          <p:cNvSpPr/>
          <p:nvPr/>
        </p:nvSpPr>
        <p:spPr>
          <a:xfrm>
            <a:off x="5602320" y="5553360"/>
            <a:ext cx="4684320" cy="6184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7E1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8"/>
          <p:cNvSpPr/>
          <p:nvPr/>
        </p:nvSpPr>
        <p:spPr>
          <a:xfrm>
            <a:off x="5753520" y="5649120"/>
            <a:ext cx="430200" cy="42660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3" name="Image 8" descr="/home/claude/work/icons_white/image-3-9.png"/>
          <p:cNvPicPr/>
          <p:nvPr/>
        </p:nvPicPr>
        <p:blipFill>
          <a:blip r:embed="rId9"/>
          <a:stretch/>
        </p:blipFill>
        <p:spPr>
          <a:xfrm>
            <a:off x="5800320" y="5695920"/>
            <a:ext cx="335160" cy="33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Text 39"/>
          <p:cNvSpPr/>
          <p:nvPr/>
        </p:nvSpPr>
        <p:spPr>
          <a:xfrm>
            <a:off x="6302520" y="5585040"/>
            <a:ext cx="3822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CSV Export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40"/>
          <p:cNvSpPr/>
          <p:nvPr/>
        </p:nvSpPr>
        <p:spPr>
          <a:xfrm>
            <a:off x="6302520" y="5895000"/>
            <a:ext cx="3822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Exportable staffing insights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54"/>
          <p:cNvSpPr/>
          <p:nvPr/>
        </p:nvSpPr>
        <p:spPr>
          <a:xfrm>
            <a:off x="502920" y="6473880"/>
            <a:ext cx="8046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CLOVER INFOTECH PVT LTD  •  MINI BENCH DEPLOYMENT SYSTEM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55"/>
          <p:cNvSpPr/>
          <p:nvPr/>
        </p:nvSpPr>
        <p:spPr>
          <a:xfrm>
            <a:off x="11064240" y="6446520"/>
            <a:ext cx="5479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53A943"/>
                </a:solidFill>
                <a:effectLst/>
                <a:uFillTx/>
                <a:latin typeface="Aptos"/>
                <a:ea typeface="Aptos"/>
              </a:rPr>
              <a:t>03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Shape 5"/>
          <p:cNvSpPr/>
          <p:nvPr/>
        </p:nvSpPr>
        <p:spPr>
          <a:xfrm>
            <a:off x="0" y="0"/>
            <a:ext cx="90720" cy="6857280"/>
          </a:xfrm>
          <a:prstGeom prst="rect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8"/>
          <p:cNvSpPr/>
          <p:nvPr/>
        </p:nvSpPr>
        <p:spPr>
          <a:xfrm>
            <a:off x="594360" y="384120"/>
            <a:ext cx="10972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32D28"/>
                </a:solidFill>
                <a:effectLst/>
                <a:uFillTx/>
                <a:latin typeface="Aptos Display"/>
                <a:ea typeface="Aptos Display"/>
              </a:rPr>
              <a:t>Skill Matching &amp; Tier Classification Logic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9"/>
          <p:cNvSpPr/>
          <p:nvPr/>
        </p:nvSpPr>
        <p:spPr>
          <a:xfrm>
            <a:off x="502920" y="1371600"/>
            <a:ext cx="5394240" cy="5101920"/>
          </a:xfrm>
          <a:prstGeom prst="roundRect">
            <a:avLst>
              <a:gd name="adj" fmla="val 1869"/>
            </a:avLst>
          </a:prstGeom>
          <a:solidFill>
            <a:srgbClr val="F4F7F5"/>
          </a:solidFill>
          <a:ln w="12700">
            <a:solidFill>
              <a:srgbClr val="D7E1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3"/>
          <p:cNvSpPr/>
          <p:nvPr/>
        </p:nvSpPr>
        <p:spPr>
          <a:xfrm>
            <a:off x="777240" y="1627560"/>
            <a:ext cx="383400" cy="38340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2" name="Image 9" descr="/home/claude/work/icons_white/image-2-3.png"/>
          <p:cNvPicPr/>
          <p:nvPr/>
        </p:nvPicPr>
        <p:blipFill>
          <a:blip r:embed="rId1"/>
          <a:stretch/>
        </p:blipFill>
        <p:spPr>
          <a:xfrm>
            <a:off x="819360" y="1670040"/>
            <a:ext cx="298800" cy="29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Text 29"/>
          <p:cNvSpPr/>
          <p:nvPr/>
        </p:nvSpPr>
        <p:spPr>
          <a:xfrm>
            <a:off x="1280160" y="1600200"/>
            <a:ext cx="43884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Example Scenario Data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26"/>
          <p:cNvSpPr/>
          <p:nvPr/>
        </p:nvSpPr>
        <p:spPr>
          <a:xfrm>
            <a:off x="777240" y="2240280"/>
            <a:ext cx="4845600" cy="913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33"/>
          <p:cNvSpPr/>
          <p:nvPr/>
        </p:nvSpPr>
        <p:spPr>
          <a:xfrm>
            <a:off x="1005840" y="2240280"/>
            <a:ext cx="24224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Project Requirements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34"/>
          <p:cNvSpPr/>
          <p:nvPr/>
        </p:nvSpPr>
        <p:spPr>
          <a:xfrm>
            <a:off x="3200400" y="2240280"/>
            <a:ext cx="23256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Python, SQL, AWS, Docker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7"/>
          <p:cNvSpPr/>
          <p:nvPr/>
        </p:nvSpPr>
        <p:spPr>
          <a:xfrm>
            <a:off x="777240" y="3273480"/>
            <a:ext cx="4845600" cy="913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37"/>
          <p:cNvSpPr/>
          <p:nvPr/>
        </p:nvSpPr>
        <p:spPr>
          <a:xfrm>
            <a:off x="1005840" y="3273480"/>
            <a:ext cx="24224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Employee Known Skills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38"/>
          <p:cNvSpPr/>
          <p:nvPr/>
        </p:nvSpPr>
        <p:spPr>
          <a:xfrm>
            <a:off x="3200400" y="3273480"/>
            <a:ext cx="23256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Python, SQL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30"/>
          <p:cNvSpPr/>
          <p:nvPr/>
        </p:nvSpPr>
        <p:spPr>
          <a:xfrm>
            <a:off x="777240" y="4306680"/>
            <a:ext cx="4845600" cy="913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41"/>
          <p:cNvSpPr/>
          <p:nvPr/>
        </p:nvSpPr>
        <p:spPr>
          <a:xfrm>
            <a:off x="1005840" y="4306680"/>
            <a:ext cx="24224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Employee Learning Skills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42"/>
          <p:cNvSpPr/>
          <p:nvPr/>
        </p:nvSpPr>
        <p:spPr>
          <a:xfrm>
            <a:off x="3200400" y="4306680"/>
            <a:ext cx="23256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AWS, Docker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31"/>
          <p:cNvSpPr/>
          <p:nvPr/>
        </p:nvSpPr>
        <p:spPr>
          <a:xfrm>
            <a:off x="777240" y="5340240"/>
            <a:ext cx="4845600" cy="913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43"/>
          <p:cNvSpPr/>
          <p:nvPr/>
        </p:nvSpPr>
        <p:spPr>
          <a:xfrm>
            <a:off x="1005840" y="5340240"/>
            <a:ext cx="24224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Total Required Count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44"/>
          <p:cNvSpPr/>
          <p:nvPr/>
        </p:nvSpPr>
        <p:spPr>
          <a:xfrm>
            <a:off x="3200400" y="5340240"/>
            <a:ext cx="23256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4 Skills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32"/>
          <p:cNvSpPr/>
          <p:nvPr/>
        </p:nvSpPr>
        <p:spPr>
          <a:xfrm>
            <a:off x="6172200" y="1371600"/>
            <a:ext cx="5513040" cy="5028840"/>
          </a:xfrm>
          <a:prstGeom prst="roundRect">
            <a:avLst>
              <a:gd name="adj" fmla="val 1869"/>
            </a:avLst>
          </a:prstGeom>
          <a:solidFill>
            <a:srgbClr val="F4F7F5"/>
          </a:solidFill>
          <a:ln w="12700">
            <a:solidFill>
              <a:srgbClr val="D7E1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35"/>
          <p:cNvSpPr/>
          <p:nvPr/>
        </p:nvSpPr>
        <p:spPr>
          <a:xfrm>
            <a:off x="6446520" y="1627560"/>
            <a:ext cx="383400" cy="38340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8" name="Image 10" descr="/home/claude/work/icons_white/image-3-8.png"/>
          <p:cNvPicPr/>
          <p:nvPr/>
        </p:nvPicPr>
        <p:blipFill>
          <a:blip r:embed="rId2"/>
          <a:stretch/>
        </p:blipFill>
        <p:spPr>
          <a:xfrm>
            <a:off x="6488640" y="1670040"/>
            <a:ext cx="298800" cy="29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" name="Text 45"/>
          <p:cNvSpPr/>
          <p:nvPr/>
        </p:nvSpPr>
        <p:spPr>
          <a:xfrm>
            <a:off x="6949440" y="1600200"/>
            <a:ext cx="45072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Evaluation &amp; Scoring Result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36"/>
          <p:cNvSpPr/>
          <p:nvPr/>
        </p:nvSpPr>
        <p:spPr>
          <a:xfrm>
            <a:off x="6446520" y="2240280"/>
            <a:ext cx="310320" cy="31032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46"/>
          <p:cNvSpPr/>
          <p:nvPr/>
        </p:nvSpPr>
        <p:spPr>
          <a:xfrm>
            <a:off x="6446520" y="224028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47"/>
          <p:cNvSpPr/>
          <p:nvPr/>
        </p:nvSpPr>
        <p:spPr>
          <a:xfrm>
            <a:off x="6903720" y="2212920"/>
            <a:ext cx="4507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Current Match (Drives Status Tier)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48"/>
          <p:cNvSpPr/>
          <p:nvPr/>
        </p:nvSpPr>
        <p:spPr>
          <a:xfrm>
            <a:off x="6903720" y="2642760"/>
            <a:ext cx="4507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2 matched known skills / 4 required = </a:t>
            </a:r>
            <a:r>
              <a:rPr lang="en-US" sz="1200" b="1" u="none" strike="noStrike">
                <a:solidFill>
                  <a:srgbClr val="53A943"/>
                </a:solidFill>
                <a:effectLst/>
                <a:uFillTx/>
                <a:latin typeface="Aptos"/>
                <a:ea typeface="Aptos"/>
              </a:rPr>
              <a:t>50% (current pct)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49"/>
          <p:cNvSpPr/>
          <p:nvPr/>
        </p:nvSpPr>
        <p:spPr>
          <a:xfrm>
            <a:off x="6903720" y="3026520"/>
            <a:ext cx="4507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Result: </a:t>
            </a:r>
            <a:r>
              <a:rPr lang="en-US" sz="1200" b="1" u="none" strike="noStrike">
                <a:solidFill>
                  <a:srgbClr val="53A943"/>
                </a:solidFill>
                <a:effectLst/>
                <a:uFillTx/>
                <a:latin typeface="Aptos"/>
                <a:ea typeface="Aptos"/>
              </a:rPr>
              <a:t>Needs Minimal Upskilling</a:t>
            </a:r>
            <a:r>
              <a:rPr lang="en-US" sz="12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 (50% ≤ 50% &lt; 80%)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39"/>
          <p:cNvSpPr/>
          <p:nvPr/>
        </p:nvSpPr>
        <p:spPr>
          <a:xfrm>
            <a:off x="6446520" y="3520440"/>
            <a:ext cx="4965120" cy="360"/>
          </a:xfrm>
          <a:prstGeom prst="line">
            <a:avLst/>
          </a:prstGeom>
          <a:ln w="12700">
            <a:solidFill>
              <a:srgbClr val="D7E1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40"/>
          <p:cNvSpPr/>
          <p:nvPr/>
        </p:nvSpPr>
        <p:spPr>
          <a:xfrm>
            <a:off x="6446520" y="3684960"/>
            <a:ext cx="310320" cy="31032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50"/>
          <p:cNvSpPr/>
          <p:nvPr/>
        </p:nvSpPr>
        <p:spPr>
          <a:xfrm>
            <a:off x="6446520" y="368496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51"/>
          <p:cNvSpPr/>
          <p:nvPr/>
        </p:nvSpPr>
        <p:spPr>
          <a:xfrm>
            <a:off x="6903720" y="3657600"/>
            <a:ext cx="4507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Weighted Score (Tiebreaker Only)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52"/>
          <p:cNvSpPr/>
          <p:nvPr/>
        </p:nvSpPr>
        <p:spPr>
          <a:xfrm>
            <a:off x="6903720" y="4087440"/>
            <a:ext cx="4507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(2 known × 1.0) + (2 learning × 0.6) = 3.2 score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53"/>
          <p:cNvSpPr/>
          <p:nvPr/>
        </p:nvSpPr>
        <p:spPr>
          <a:xfrm>
            <a:off x="6903720" y="4471560"/>
            <a:ext cx="4507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Weighted Score = </a:t>
            </a:r>
            <a:r>
              <a:rPr lang="en-US" sz="1200" b="1" u="none" strike="noStrike">
                <a:solidFill>
                  <a:srgbClr val="53A943"/>
                </a:solidFill>
                <a:effectLst/>
                <a:uFillTx/>
                <a:latin typeface="Aptos"/>
                <a:ea typeface="Aptos"/>
              </a:rPr>
              <a:t>80.00%</a:t>
            </a:r>
            <a:r>
              <a:rPr lang="en-US" sz="12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 (Learning skills grant partial credit)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41"/>
          <p:cNvSpPr/>
          <p:nvPr/>
        </p:nvSpPr>
        <p:spPr>
          <a:xfrm>
            <a:off x="6446520" y="4965120"/>
            <a:ext cx="4965120" cy="360"/>
          </a:xfrm>
          <a:prstGeom prst="line">
            <a:avLst/>
          </a:prstGeom>
          <a:ln w="12700">
            <a:solidFill>
              <a:srgbClr val="D7E1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42"/>
          <p:cNvSpPr/>
          <p:nvPr/>
        </p:nvSpPr>
        <p:spPr>
          <a:xfrm>
            <a:off x="6446520" y="5129640"/>
            <a:ext cx="310320" cy="31032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56"/>
          <p:cNvSpPr/>
          <p:nvPr/>
        </p:nvSpPr>
        <p:spPr>
          <a:xfrm>
            <a:off x="6446520" y="512964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57"/>
          <p:cNvSpPr/>
          <p:nvPr/>
        </p:nvSpPr>
        <p:spPr>
          <a:xfrm>
            <a:off x="6903720" y="5102280"/>
            <a:ext cx="4507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Missing Skills Output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58"/>
          <p:cNvSpPr/>
          <p:nvPr/>
        </p:nvSpPr>
        <p:spPr>
          <a:xfrm>
            <a:off x="6903720" y="5532120"/>
            <a:ext cx="4507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Gaps identified: </a:t>
            </a:r>
            <a:r>
              <a:rPr lang="en-US" sz="1200" b="1" u="none" strike="noStrike">
                <a:solidFill>
                  <a:srgbClr val="53A943"/>
                </a:solidFill>
                <a:effectLst/>
                <a:uFillTx/>
                <a:latin typeface="Aptos"/>
                <a:ea typeface="Aptos"/>
              </a:rPr>
              <a:t>AWS, Docker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9"/>
          <p:cNvSpPr/>
          <p:nvPr/>
        </p:nvSpPr>
        <p:spPr>
          <a:xfrm>
            <a:off x="6903720" y="5916240"/>
            <a:ext cx="4507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Learning skills do not bypass missing skill gaps for classification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60"/>
          <p:cNvSpPr/>
          <p:nvPr/>
        </p:nvSpPr>
        <p:spPr>
          <a:xfrm>
            <a:off x="502920" y="6473880"/>
            <a:ext cx="8046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CLOVER INFOTECH PVT LTD  •  MINI BENCH DEPLOYMENT SYSTEM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61"/>
          <p:cNvSpPr/>
          <p:nvPr/>
        </p:nvSpPr>
        <p:spPr>
          <a:xfrm>
            <a:off x="11064240" y="6446520"/>
            <a:ext cx="5479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53A943"/>
                </a:solidFill>
                <a:effectLst/>
                <a:uFillTx/>
                <a:latin typeface="Aptos"/>
                <a:ea typeface="Aptos"/>
              </a:rPr>
              <a:t>04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0"/>
          <p:cNvSpPr/>
          <p:nvPr/>
        </p:nvSpPr>
        <p:spPr>
          <a:xfrm>
            <a:off x="0" y="0"/>
            <a:ext cx="90720" cy="6857280"/>
          </a:xfrm>
          <a:prstGeom prst="rect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"/>
          <p:cNvSpPr/>
          <p:nvPr/>
        </p:nvSpPr>
        <p:spPr>
          <a:xfrm>
            <a:off x="594360" y="384120"/>
            <a:ext cx="10789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32D28"/>
                </a:solidFill>
                <a:effectLst/>
                <a:uFillTx/>
                <a:latin typeface="Aptos Display"/>
                <a:ea typeface="Aptos Display"/>
              </a:rPr>
              <a:t>Business Impact &amp; Leadership Benefits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2"/>
          <p:cNvSpPr/>
          <p:nvPr/>
        </p:nvSpPr>
        <p:spPr>
          <a:xfrm>
            <a:off x="594360" y="1417320"/>
            <a:ext cx="5257080" cy="3931200"/>
          </a:xfrm>
          <a:prstGeom prst="roundRect">
            <a:avLst>
              <a:gd name="adj" fmla="val 1860"/>
            </a:avLst>
          </a:prstGeom>
          <a:solidFill>
            <a:srgbClr val="F4F7F5"/>
          </a:solidFill>
          <a:ln w="12700">
            <a:solidFill>
              <a:srgbClr val="D7E1DA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3"/>
          <p:cNvSpPr/>
          <p:nvPr/>
        </p:nvSpPr>
        <p:spPr>
          <a:xfrm>
            <a:off x="914400" y="1691640"/>
            <a:ext cx="46170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Operational Benefits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4"/>
          <p:cNvSpPr/>
          <p:nvPr/>
        </p:nvSpPr>
        <p:spPr>
          <a:xfrm>
            <a:off x="914400" y="2377440"/>
            <a:ext cx="456480" cy="45648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4" name="Image 0" descr="/home/claude/work/icons_white/image-4-1.png"/>
          <p:cNvPicPr/>
          <p:nvPr/>
        </p:nvPicPr>
        <p:blipFill>
          <a:blip r:embed="rId1"/>
          <a:stretch/>
        </p:blipFill>
        <p:spPr>
          <a:xfrm>
            <a:off x="964800" y="2427840"/>
            <a:ext cx="356040" cy="35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 5"/>
          <p:cNvSpPr/>
          <p:nvPr/>
        </p:nvSpPr>
        <p:spPr>
          <a:xfrm>
            <a:off x="1554480" y="2331720"/>
            <a:ext cx="3976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Faster staffing decisions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6"/>
          <p:cNvSpPr/>
          <p:nvPr/>
        </p:nvSpPr>
        <p:spPr>
          <a:xfrm>
            <a:off x="914400" y="3127320"/>
            <a:ext cx="456480" cy="45648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7" name="Image 1" descr="/home/claude/work/icons_white/image-4-2.png"/>
          <p:cNvPicPr/>
          <p:nvPr/>
        </p:nvPicPr>
        <p:blipFill>
          <a:blip r:embed="rId2"/>
          <a:stretch/>
        </p:blipFill>
        <p:spPr>
          <a:xfrm>
            <a:off x="964800" y="3177720"/>
            <a:ext cx="356040" cy="35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Text 7"/>
          <p:cNvSpPr/>
          <p:nvPr/>
        </p:nvSpPr>
        <p:spPr>
          <a:xfrm>
            <a:off x="1554480" y="3081600"/>
            <a:ext cx="3976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Improved bench utilization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8"/>
          <p:cNvSpPr/>
          <p:nvPr/>
        </p:nvSpPr>
        <p:spPr>
          <a:xfrm>
            <a:off x="914400" y="3877200"/>
            <a:ext cx="456480" cy="45648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" name="Image 2" descr="/home/claude/work/icons_white/image-4-3.png"/>
          <p:cNvPicPr/>
          <p:nvPr/>
        </p:nvPicPr>
        <p:blipFill>
          <a:blip r:embed="rId3"/>
          <a:stretch/>
        </p:blipFill>
        <p:spPr>
          <a:xfrm>
            <a:off x="964800" y="3927240"/>
            <a:ext cx="356040" cy="35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ext 9"/>
          <p:cNvSpPr/>
          <p:nvPr/>
        </p:nvSpPr>
        <p:spPr>
          <a:xfrm>
            <a:off x="1554480" y="3831480"/>
            <a:ext cx="3976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Reduced manual effort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10"/>
          <p:cNvSpPr/>
          <p:nvPr/>
        </p:nvSpPr>
        <p:spPr>
          <a:xfrm>
            <a:off x="914400" y="4626720"/>
            <a:ext cx="456480" cy="45648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3" name="Image 3" descr="/home/claude/work/icons_white/image-4-4.png"/>
          <p:cNvPicPr/>
          <p:nvPr/>
        </p:nvPicPr>
        <p:blipFill>
          <a:blip r:embed="rId4"/>
          <a:stretch/>
        </p:blipFill>
        <p:spPr>
          <a:xfrm>
            <a:off x="964800" y="4677120"/>
            <a:ext cx="356040" cy="35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Text 11"/>
          <p:cNvSpPr/>
          <p:nvPr/>
        </p:nvSpPr>
        <p:spPr>
          <a:xfrm>
            <a:off x="1554480" y="4581000"/>
            <a:ext cx="3976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Better deployment transparency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2"/>
          <p:cNvSpPr/>
          <p:nvPr/>
        </p:nvSpPr>
        <p:spPr>
          <a:xfrm>
            <a:off x="6172200" y="1417320"/>
            <a:ext cx="5257080" cy="3931200"/>
          </a:xfrm>
          <a:prstGeom prst="roundRect">
            <a:avLst>
              <a:gd name="adj" fmla="val 1860"/>
            </a:avLst>
          </a:prstGeom>
          <a:solidFill>
            <a:srgbClr val="F4F7F5"/>
          </a:solidFill>
          <a:ln w="12700">
            <a:solidFill>
              <a:srgbClr val="D7E1DA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3"/>
          <p:cNvSpPr/>
          <p:nvPr/>
        </p:nvSpPr>
        <p:spPr>
          <a:xfrm>
            <a:off x="6492240" y="1691640"/>
            <a:ext cx="46170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Leadership Benefits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4"/>
          <p:cNvSpPr/>
          <p:nvPr/>
        </p:nvSpPr>
        <p:spPr>
          <a:xfrm>
            <a:off x="6492240" y="2377440"/>
            <a:ext cx="456480" cy="45648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8" name="Image 4" descr="/home/claude/work/icons_white/image-4-5.png"/>
          <p:cNvPicPr/>
          <p:nvPr/>
        </p:nvPicPr>
        <p:blipFill>
          <a:blip r:embed="rId5"/>
          <a:stretch/>
        </p:blipFill>
        <p:spPr>
          <a:xfrm>
            <a:off x="6542640" y="2427840"/>
            <a:ext cx="356040" cy="35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Text 15"/>
          <p:cNvSpPr/>
          <p:nvPr/>
        </p:nvSpPr>
        <p:spPr>
          <a:xfrm>
            <a:off x="7132320" y="2331720"/>
            <a:ext cx="3976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Data-driven workforce planning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16"/>
          <p:cNvSpPr/>
          <p:nvPr/>
        </p:nvSpPr>
        <p:spPr>
          <a:xfrm>
            <a:off x="6492240" y="3127320"/>
            <a:ext cx="456480" cy="45648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1" name="Image 5" descr="/home/claude/work/icons_white/image-4-6.png"/>
          <p:cNvPicPr/>
          <p:nvPr/>
        </p:nvPicPr>
        <p:blipFill>
          <a:blip r:embed="rId6"/>
          <a:stretch/>
        </p:blipFill>
        <p:spPr>
          <a:xfrm>
            <a:off x="6542640" y="3177720"/>
            <a:ext cx="356040" cy="35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Text 17"/>
          <p:cNvSpPr/>
          <p:nvPr/>
        </p:nvSpPr>
        <p:spPr>
          <a:xfrm>
            <a:off x="7132320" y="3081600"/>
            <a:ext cx="3976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Early identification of critical bench cases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8"/>
          <p:cNvSpPr/>
          <p:nvPr/>
        </p:nvSpPr>
        <p:spPr>
          <a:xfrm>
            <a:off x="6492240" y="3877200"/>
            <a:ext cx="456480" cy="45648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4" name="Image 6" descr="/home/claude/work/icons_white/image-4-7.png"/>
          <p:cNvPicPr/>
          <p:nvPr/>
        </p:nvPicPr>
        <p:blipFill>
          <a:blip r:embed="rId7"/>
          <a:stretch/>
        </p:blipFill>
        <p:spPr>
          <a:xfrm>
            <a:off x="6542640" y="3927240"/>
            <a:ext cx="356040" cy="35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Text 19"/>
          <p:cNvSpPr/>
          <p:nvPr/>
        </p:nvSpPr>
        <p:spPr>
          <a:xfrm>
            <a:off x="7132320" y="3831480"/>
            <a:ext cx="3976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Better project readiness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20"/>
          <p:cNvSpPr/>
          <p:nvPr/>
        </p:nvSpPr>
        <p:spPr>
          <a:xfrm>
            <a:off x="6492240" y="4626720"/>
            <a:ext cx="456480" cy="456480"/>
          </a:xfrm>
          <a:prstGeom prst="ellipse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7" name="Image 7" descr="/home/claude/work/icons_white/image-4-8.png"/>
          <p:cNvPicPr/>
          <p:nvPr/>
        </p:nvPicPr>
        <p:blipFill>
          <a:blip r:embed="rId8"/>
          <a:stretch/>
        </p:blipFill>
        <p:spPr>
          <a:xfrm>
            <a:off x="6542640" y="4677120"/>
            <a:ext cx="356040" cy="35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Text 21"/>
          <p:cNvSpPr/>
          <p:nvPr/>
        </p:nvSpPr>
        <p:spPr>
          <a:xfrm>
            <a:off x="7132320" y="4581000"/>
            <a:ext cx="3976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Improved talent utilization strategy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22"/>
          <p:cNvSpPr/>
          <p:nvPr/>
        </p:nvSpPr>
        <p:spPr>
          <a:xfrm>
            <a:off x="594360" y="5532120"/>
            <a:ext cx="10972080" cy="593640"/>
          </a:xfrm>
          <a:prstGeom prst="roundRect">
            <a:avLst>
              <a:gd name="adj" fmla="val 12308"/>
            </a:avLst>
          </a:prstGeom>
          <a:solidFill>
            <a:srgbClr val="232D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3"/>
          <p:cNvSpPr/>
          <p:nvPr/>
        </p:nvSpPr>
        <p:spPr>
          <a:xfrm>
            <a:off x="914400" y="5532120"/>
            <a:ext cx="103320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Transforms workforce deployment from a reactive process into a proactive management capability.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4"/>
          <p:cNvSpPr/>
          <p:nvPr/>
        </p:nvSpPr>
        <p:spPr>
          <a:xfrm>
            <a:off x="502920" y="6473880"/>
            <a:ext cx="8046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CLOVER INFOTECH PVT LTD  •  MINI BENCH DEPLOYMENT SYSTEM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5"/>
          <p:cNvSpPr/>
          <p:nvPr/>
        </p:nvSpPr>
        <p:spPr>
          <a:xfrm>
            <a:off x="11064240" y="6446520"/>
            <a:ext cx="5479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53A943"/>
                </a:solidFill>
                <a:effectLst/>
                <a:uFillTx/>
                <a:latin typeface="Aptos"/>
                <a:ea typeface="Aptos"/>
              </a:rPr>
              <a:t>05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Shape 0"/>
          <p:cNvSpPr/>
          <p:nvPr/>
        </p:nvSpPr>
        <p:spPr>
          <a:xfrm>
            <a:off x="0" y="0"/>
            <a:ext cx="90720" cy="6857280"/>
          </a:xfrm>
          <a:prstGeom prst="rect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"/>
          <p:cNvSpPr/>
          <p:nvPr/>
        </p:nvSpPr>
        <p:spPr>
          <a:xfrm>
            <a:off x="594360" y="384120"/>
            <a:ext cx="10789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32D28"/>
                </a:solidFill>
                <a:effectLst/>
                <a:uFillTx/>
                <a:latin typeface="Aptos Display"/>
                <a:ea typeface="Aptos Display"/>
              </a:rPr>
              <a:t>Strategic Roadmap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2"/>
          <p:cNvSpPr/>
          <p:nvPr/>
        </p:nvSpPr>
        <p:spPr>
          <a:xfrm>
            <a:off x="594360" y="1417320"/>
            <a:ext cx="3519720" cy="3976920"/>
          </a:xfrm>
          <a:prstGeom prst="roundRect">
            <a:avLst>
              <a:gd name="adj" fmla="val 2597"/>
            </a:avLst>
          </a:prstGeom>
          <a:solidFill>
            <a:srgbClr val="232D28"/>
          </a:solidFill>
          <a:ln w="12700">
            <a:solidFill>
              <a:srgbClr val="232D28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3"/>
          <p:cNvSpPr/>
          <p:nvPr/>
        </p:nvSpPr>
        <p:spPr>
          <a:xfrm>
            <a:off x="868680" y="1691640"/>
            <a:ext cx="2971080" cy="365040"/>
          </a:xfrm>
          <a:prstGeom prst="roundRect">
            <a:avLst>
              <a:gd name="adj" fmla="val 50000"/>
            </a:avLst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4"/>
          <p:cNvSpPr/>
          <p:nvPr/>
        </p:nvSpPr>
        <p:spPr>
          <a:xfrm>
            <a:off x="868680" y="1691640"/>
            <a:ext cx="2971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99" strike="noStrik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CURRENT STAGE  •  LIVE MVP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5"/>
          <p:cNvSpPr/>
          <p:nvPr/>
        </p:nvSpPr>
        <p:spPr>
          <a:xfrm>
            <a:off x="868680" y="2286000"/>
            <a:ext cx="2971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Phase 1: Current MVP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6"/>
          <p:cNvSpPr/>
          <p:nvPr/>
        </p:nvSpPr>
        <p:spPr>
          <a:xfrm>
            <a:off x="868680" y="2880360"/>
            <a:ext cx="297108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914400">
              <a:lnSpc>
                <a:spcPct val="135000"/>
              </a:lnSpc>
              <a:buClr>
                <a:srgbClr val="FFFFFF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CSV-based intelligent skill matching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35000"/>
              </a:lnSpc>
              <a:buClr>
                <a:srgbClr val="FFFFFF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Bench analytics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35000"/>
              </a:lnSpc>
              <a:buClr>
                <a:srgbClr val="FFFFFF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Deployment recommendation engine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7"/>
          <p:cNvSpPr/>
          <p:nvPr/>
        </p:nvSpPr>
        <p:spPr>
          <a:xfrm>
            <a:off x="868680" y="4206240"/>
            <a:ext cx="2971800" cy="360"/>
          </a:xfrm>
          <a:prstGeom prst="line">
            <a:avLst/>
          </a:prstGeom>
          <a:ln w="9525">
            <a:solidFill>
              <a:srgbClr val="4658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8"/>
          <p:cNvSpPr/>
          <p:nvPr/>
        </p:nvSpPr>
        <p:spPr>
          <a:xfrm>
            <a:off x="868680" y="4343400"/>
            <a:ext cx="29710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The current MVP is already operational and demonstrates the core workforce deployment capability.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9"/>
          <p:cNvSpPr/>
          <p:nvPr/>
        </p:nvSpPr>
        <p:spPr>
          <a:xfrm>
            <a:off x="4343400" y="1417320"/>
            <a:ext cx="3519720" cy="3976920"/>
          </a:xfrm>
          <a:prstGeom prst="roundRect">
            <a:avLst>
              <a:gd name="adj" fmla="val 2597"/>
            </a:avLst>
          </a:prstGeom>
          <a:solidFill>
            <a:srgbClr val="F4F7F5"/>
          </a:solidFill>
          <a:ln w="12700">
            <a:solidFill>
              <a:srgbClr val="D7E1DA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10"/>
          <p:cNvSpPr/>
          <p:nvPr/>
        </p:nvSpPr>
        <p:spPr>
          <a:xfrm>
            <a:off x="4617720" y="1691640"/>
            <a:ext cx="2971080" cy="365040"/>
          </a:xfrm>
          <a:prstGeom prst="roundRect">
            <a:avLst>
              <a:gd name="adj" fmla="val 50000"/>
            </a:avLst>
          </a:prstGeom>
          <a:solidFill>
            <a:srgbClr val="C8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1"/>
          <p:cNvSpPr/>
          <p:nvPr/>
        </p:nvSpPr>
        <p:spPr>
          <a:xfrm>
            <a:off x="4617720" y="1691640"/>
            <a:ext cx="2971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99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UPCOMING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2"/>
          <p:cNvSpPr/>
          <p:nvPr/>
        </p:nvSpPr>
        <p:spPr>
          <a:xfrm>
            <a:off x="4617720" y="2286000"/>
            <a:ext cx="2971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Phase 2: Web Platform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3"/>
          <p:cNvSpPr/>
          <p:nvPr/>
        </p:nvSpPr>
        <p:spPr>
          <a:xfrm>
            <a:off x="4617720" y="2880360"/>
            <a:ext cx="297108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914400">
              <a:lnSpc>
                <a:spcPct val="135000"/>
              </a:lnSpc>
              <a:buClr>
                <a:srgbClr val="5B6660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Interactive dashboard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35000"/>
              </a:lnSpc>
              <a:buClr>
                <a:srgbClr val="5B6660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Notifications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35000"/>
              </a:lnSpc>
              <a:buClr>
                <a:srgbClr val="5B6660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Role-based access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14"/>
          <p:cNvSpPr/>
          <p:nvPr/>
        </p:nvSpPr>
        <p:spPr>
          <a:xfrm>
            <a:off x="8092440" y="1417320"/>
            <a:ext cx="3519720" cy="3976920"/>
          </a:xfrm>
          <a:prstGeom prst="roundRect">
            <a:avLst>
              <a:gd name="adj" fmla="val 2597"/>
            </a:avLst>
          </a:prstGeom>
          <a:solidFill>
            <a:srgbClr val="F4F7F5"/>
          </a:solidFill>
          <a:ln w="12700">
            <a:solidFill>
              <a:srgbClr val="D7E1DA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15"/>
          <p:cNvSpPr/>
          <p:nvPr/>
        </p:nvSpPr>
        <p:spPr>
          <a:xfrm>
            <a:off x="8366760" y="1691640"/>
            <a:ext cx="2971080" cy="365040"/>
          </a:xfrm>
          <a:prstGeom prst="roundRect">
            <a:avLst>
              <a:gd name="adj" fmla="val 50000"/>
            </a:avLst>
          </a:prstGeom>
          <a:solidFill>
            <a:srgbClr val="C8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6"/>
          <p:cNvSpPr/>
          <p:nvPr/>
        </p:nvSpPr>
        <p:spPr>
          <a:xfrm>
            <a:off x="8366760" y="1691640"/>
            <a:ext cx="2971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99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UPCOMING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7"/>
          <p:cNvSpPr/>
          <p:nvPr/>
        </p:nvSpPr>
        <p:spPr>
          <a:xfrm>
            <a:off x="8366760" y="2286000"/>
            <a:ext cx="2971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Phase 3: AI-Driven Intelligence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8"/>
          <p:cNvSpPr/>
          <p:nvPr/>
        </p:nvSpPr>
        <p:spPr>
          <a:xfrm>
            <a:off x="8366760" y="2880360"/>
            <a:ext cx="297108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914400">
              <a:lnSpc>
                <a:spcPct val="135000"/>
              </a:lnSpc>
              <a:buClr>
                <a:srgbClr val="5B6660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AI recommendations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35000"/>
              </a:lnSpc>
              <a:buClr>
                <a:srgbClr val="5B6660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Utilization forecasting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35000"/>
              </a:lnSpc>
              <a:buClr>
                <a:srgbClr val="5B6660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Enterprise integration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9"/>
          <p:cNvSpPr/>
          <p:nvPr/>
        </p:nvSpPr>
        <p:spPr>
          <a:xfrm>
            <a:off x="914400" y="5623560"/>
            <a:ext cx="103320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Mini Bench Deployment System enables Clover Infotech to improve workforce utilization, accelerate project staffing, and build a scalable talent deployment capability for future growth.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0"/>
          <p:cNvSpPr/>
          <p:nvPr/>
        </p:nvSpPr>
        <p:spPr>
          <a:xfrm>
            <a:off x="502920" y="6473880"/>
            <a:ext cx="8046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CLOVER INFOTECH PVT LTD  •  MINI BENCH DEPLOYMENT SYSTEM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21"/>
          <p:cNvSpPr/>
          <p:nvPr/>
        </p:nvSpPr>
        <p:spPr>
          <a:xfrm>
            <a:off x="11064240" y="6446520"/>
            <a:ext cx="5479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53A943"/>
                </a:solidFill>
                <a:effectLst/>
                <a:uFillTx/>
                <a:latin typeface="Aptos"/>
                <a:ea typeface="Aptos"/>
              </a:rPr>
              <a:t>06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Image 13" descr="/home/claude/work/ppt1_unpacked/ppt/media/image1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6" name="Shape 13"/>
          <p:cNvSpPr/>
          <p:nvPr/>
        </p:nvSpPr>
        <p:spPr>
          <a:xfrm>
            <a:off x="0" y="0"/>
            <a:ext cx="90720" cy="6857280"/>
          </a:xfrm>
          <a:prstGeom prst="rect">
            <a:avLst/>
          </a:prstGeom>
          <a:solidFill>
            <a:srgbClr val="53A9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62"/>
          <p:cNvSpPr/>
          <p:nvPr/>
        </p:nvSpPr>
        <p:spPr>
          <a:xfrm>
            <a:off x="594360" y="384120"/>
            <a:ext cx="34740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99" strike="noStrike">
                <a:solidFill>
                  <a:srgbClr val="53A943"/>
                </a:solidFill>
                <a:effectLst/>
                <a:uFillTx/>
                <a:latin typeface="Aptos"/>
                <a:ea typeface="Aptos"/>
              </a:rPr>
              <a:t>CLOVER INFOTECH PVT LTD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Image 11" descr="/home/claude/work/ppt1_unpacked/ppt/media/image2.png"/>
          <p:cNvPicPr/>
          <p:nvPr/>
        </p:nvPicPr>
        <p:blipFill>
          <a:blip r:embed="rId2"/>
          <a:stretch/>
        </p:blipFill>
        <p:spPr>
          <a:xfrm>
            <a:off x="8732520" y="384120"/>
            <a:ext cx="26510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Text 63"/>
          <p:cNvSpPr/>
          <p:nvPr/>
        </p:nvSpPr>
        <p:spPr>
          <a:xfrm>
            <a:off x="621720" y="1234440"/>
            <a:ext cx="731448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53A943"/>
                </a:solidFill>
                <a:effectLst/>
                <a:uFillTx/>
                <a:latin typeface="Aptos Display"/>
                <a:ea typeface="Aptos Display"/>
              </a:rPr>
              <a:t>Thank You!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64"/>
          <p:cNvSpPr/>
          <p:nvPr/>
        </p:nvSpPr>
        <p:spPr>
          <a:xfrm>
            <a:off x="658440" y="1965960"/>
            <a:ext cx="9600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Mini Bench Deployment System  —  Intelligent Workforce Deployment &amp; Bench Optimization Platform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43"/>
          <p:cNvSpPr/>
          <p:nvPr/>
        </p:nvSpPr>
        <p:spPr>
          <a:xfrm>
            <a:off x="658080" y="5285160"/>
            <a:ext cx="10881360" cy="360"/>
          </a:xfrm>
          <a:prstGeom prst="line">
            <a:avLst/>
          </a:prstGeom>
          <a:ln w="12700">
            <a:solidFill>
              <a:srgbClr val="D7E1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65"/>
          <p:cNvSpPr/>
          <p:nvPr/>
        </p:nvSpPr>
        <p:spPr>
          <a:xfrm>
            <a:off x="658440" y="54954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99" strike="noStrike">
                <a:solidFill>
                  <a:srgbClr val="5B6660"/>
                </a:solidFill>
                <a:effectLst/>
                <a:uFillTx/>
                <a:latin typeface="Aptos"/>
                <a:ea typeface="Aptos"/>
              </a:rPr>
              <a:t>PROJECT TEAM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66"/>
          <p:cNvSpPr/>
          <p:nvPr/>
        </p:nvSpPr>
        <p:spPr>
          <a:xfrm>
            <a:off x="658440" y="5769720"/>
            <a:ext cx="9874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32D28"/>
                </a:solidFill>
                <a:effectLst/>
                <a:uFillTx/>
                <a:latin typeface="Aptos"/>
                <a:ea typeface="Aptos"/>
              </a:rPr>
              <a:t>Om Chaudhari  •  Vaibhav Mishra  •  Vaibhav Nhayade  •  Swapnil Mayavanshi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LibreOffice/26.2.4.2$Linux_X86_64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2026-08-14T07:08:20Z</dcterms:created>
  <dc:creator>PptxGenJS</dc:creator>
  <dc:description/>
  <dc:language>en-US</dc:language>
  <cp:lastModifiedBy/>
  <dcterms:modified xsi:type="dcterms:W3CDTF">2026-08-16T20:21:35Z</dcterms:modified>
  <cp:revision>3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On-screen Show (16:9)</vt:lpwstr>
  </property>
  <property fmtid="{D5CDD505-2E9C-101B-9397-08002B2CF9AE}" pid="4" name="Slides">
    <vt:i4>6</vt:i4>
  </property>
</Properties>
</file>