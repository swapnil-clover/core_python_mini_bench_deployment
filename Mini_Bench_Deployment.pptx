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BAF434-200A-47F2-8399-5563AA75104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224C88-7185-41BC-8B42-47E5C6A578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439837-7138-4D7C-9594-D64AEE33C7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F9FB0-07EB-4872-BC04-E02319072C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DE5DF-50B2-4222-9DEA-329A79A17D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B05450-E5B5-4021-8D39-D46FE112CE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2F10E4-9B98-4773-9C6B-5A32D2B0A3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2B492F-876E-4250-BA10-DB9296D6E4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home/claude/work/ppt1_unpacked/ppt/media/image1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91080" cy="6857640"/>
          </a:xfrm>
          <a:prstGeom prst="rect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94360" y="38412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CLOVER INFOTECH PVT LTD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1" descr="/home/claude/work/ppt1_unpacked/ppt/media/image2.png"/>
          <p:cNvPicPr/>
          <p:nvPr/>
        </p:nvPicPr>
        <p:blipFill>
          <a:blip r:embed="rId2"/>
          <a:stretch/>
        </p:blipFill>
        <p:spPr>
          <a:xfrm>
            <a:off x="8732520" y="384120"/>
            <a:ext cx="26514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2"/>
          <p:cNvSpPr/>
          <p:nvPr/>
        </p:nvSpPr>
        <p:spPr>
          <a:xfrm>
            <a:off x="621720" y="1325880"/>
            <a:ext cx="9600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232D28"/>
                </a:solidFill>
                <a:effectLst/>
                <a:uFillTx/>
                <a:latin typeface="Aptos Display"/>
                <a:ea typeface="Aptos Display"/>
              </a:rPr>
              <a:t>MINI </a:t>
            </a:r>
            <a:r>
              <a:rPr lang="en-US" sz="4000" b="1" u="none" strike="noStrike">
                <a:solidFill>
                  <a:srgbClr val="232D28"/>
                </a:solidFill>
                <a:effectLst/>
                <a:uFillTx/>
                <a:latin typeface="Aptos Display"/>
                <a:ea typeface="Aptos Display"/>
              </a:rPr>
              <a:t>BENCH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53A943"/>
                </a:solidFill>
                <a:effectLst/>
                <a:uFillTx/>
                <a:latin typeface="Aptos Display"/>
                <a:ea typeface="Aptos Display"/>
              </a:rPr>
              <a:t>DEPLOY</a:t>
            </a:r>
            <a:r>
              <a:rPr lang="en-US" sz="4000" b="1" u="none" strike="noStrike">
                <a:solidFill>
                  <a:srgbClr val="53A943"/>
                </a:solidFill>
                <a:effectLst/>
                <a:uFillTx/>
                <a:latin typeface="Aptos Display"/>
                <a:ea typeface="Aptos Display"/>
              </a:rPr>
              <a:t>MENT </a:t>
            </a:r>
            <a:r>
              <a:rPr lang="en-US" sz="4000" b="1" u="none" strike="noStrike">
                <a:solidFill>
                  <a:srgbClr val="53A943"/>
                </a:solidFill>
                <a:effectLst/>
                <a:uFillTx/>
                <a:latin typeface="Aptos Display"/>
                <a:ea typeface="Aptos Display"/>
              </a:rPr>
              <a:t>SYSTEM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658440" y="2697480"/>
            <a:ext cx="868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Intelligent Workforce </a:t>
            </a:r>
            <a:r>
              <a:rPr lang="en-US" sz="1400" b="0" i="1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Deployment &amp; Bench </a:t>
            </a:r>
            <a:r>
              <a:rPr lang="en-US" sz="1400" b="0" i="1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Optimization Platform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58440" y="3246120"/>
            <a:ext cx="6171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ABOUT THE PLATFORM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658440" y="354780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This platform reduces </a:t>
            </a:r>
            <a:r>
              <a:rPr lang="en-US" sz="13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bench idle time and </a:t>
            </a:r>
            <a:r>
              <a:rPr lang="en-US" sz="13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accelerates project staffing </a:t>
            </a:r>
            <a:r>
              <a:rPr lang="en-US" sz="13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efficiency - giving </a:t>
            </a:r>
            <a:r>
              <a:rPr lang="en-US" sz="13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leadership a faster, data-</a:t>
            </a:r>
            <a:r>
              <a:rPr lang="en-US" sz="13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driven path from available </a:t>
            </a:r>
            <a:r>
              <a:rPr lang="en-US" sz="13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talent to active deployment.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658440" y="5166360"/>
            <a:ext cx="6766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PRESENTED BY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658440" y="5440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Om Chaudhari  •  Vaibhav </a:t>
            </a: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Mishra  •  Vaibhav </a:t>
            </a: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Nhayade  •  Swapnil </a:t>
            </a: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Mayavanshi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080" cy="6857640"/>
          </a:xfrm>
          <a:prstGeom prst="rect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94360" y="3841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32D28"/>
                </a:solidFill>
                <a:effectLst/>
                <a:uFillTx/>
                <a:latin typeface="Aptos Display"/>
                <a:ea typeface="Aptos Display"/>
              </a:rPr>
              <a:t>The Business </a:t>
            </a:r>
            <a:r>
              <a:rPr lang="en-US" sz="3200" b="1" u="none" strike="noStrike">
                <a:solidFill>
                  <a:srgbClr val="232D28"/>
                </a:solidFill>
                <a:effectLst/>
                <a:uFillTx/>
                <a:latin typeface="Aptos Display"/>
                <a:ea typeface="Aptos Display"/>
              </a:rPr>
              <a:t>Problem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94360" y="1417320"/>
            <a:ext cx="5257440" cy="1599840"/>
          </a:xfrm>
          <a:prstGeom prst="roundRect">
            <a:avLst>
              <a:gd name="adj" fmla="val 4571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850320" y="1673280"/>
            <a:ext cx="502560" cy="50256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/home/claude/work/icons_white/image-2-1.png"/>
          <p:cNvPicPr/>
          <p:nvPr/>
        </p:nvPicPr>
        <p:blipFill>
          <a:blip r:embed="rId1"/>
          <a:stretch/>
        </p:blipFill>
        <p:spPr>
          <a:xfrm>
            <a:off x="905760" y="1728720"/>
            <a:ext cx="392040" cy="39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4"/>
          <p:cNvSpPr/>
          <p:nvPr/>
        </p:nvSpPr>
        <p:spPr>
          <a:xfrm>
            <a:off x="1508760" y="161856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Manual, Spreadsheet-</a:t>
            </a:r>
            <a:r>
              <a:rPr lang="en-US" sz="15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Based Staffing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868680" y="228600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Bench allocation decisions </a:t>
            </a:r>
            <a:r>
              <a:rPr lang="en-US" sz="13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rely on manual spreadsheet </a:t>
            </a:r>
            <a:r>
              <a:rPr lang="en-US" sz="13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tracking, slowing </a:t>
            </a:r>
            <a:r>
              <a:rPr lang="en-US" sz="13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responsiveness.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6172200" y="1417320"/>
            <a:ext cx="5257440" cy="1599840"/>
          </a:xfrm>
          <a:prstGeom prst="roundRect">
            <a:avLst>
              <a:gd name="adj" fmla="val 4571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428160" y="1673280"/>
            <a:ext cx="502560" cy="50256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/home/claude/work/icons_white/image-2-2.png"/>
          <p:cNvPicPr/>
          <p:nvPr/>
        </p:nvPicPr>
        <p:blipFill>
          <a:blip r:embed="rId2"/>
          <a:stretch/>
        </p:blipFill>
        <p:spPr>
          <a:xfrm>
            <a:off x="6483600" y="1728720"/>
            <a:ext cx="392040" cy="39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8"/>
          <p:cNvSpPr/>
          <p:nvPr/>
        </p:nvSpPr>
        <p:spPr>
          <a:xfrm>
            <a:off x="7086600" y="161856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Slow Identification of Resources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6446520" y="228600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Finding the right skilled employee for an open project takes far longer than it should.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594360" y="3200400"/>
            <a:ext cx="5257440" cy="1599840"/>
          </a:xfrm>
          <a:prstGeom prst="roundRect">
            <a:avLst>
              <a:gd name="adj" fmla="val 4571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850320" y="3456360"/>
            <a:ext cx="502560" cy="50256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2" descr="/home/claude/work/icons_white/image-2-3.png"/>
          <p:cNvPicPr/>
          <p:nvPr/>
        </p:nvPicPr>
        <p:blipFill>
          <a:blip r:embed="rId3"/>
          <a:stretch/>
        </p:blipFill>
        <p:spPr>
          <a:xfrm>
            <a:off x="905760" y="3511800"/>
            <a:ext cx="392040" cy="39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2"/>
          <p:cNvSpPr/>
          <p:nvPr/>
        </p:nvSpPr>
        <p:spPr>
          <a:xfrm>
            <a:off x="1508760" y="34016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Prolonged Bench Duration Increases Cost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868680" y="406908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Idle bench time directly increases organizational cost </a:t>
            </a:r>
            <a:r>
              <a:rPr lang="en-US" sz="13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without corresponding delivery value.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6172200" y="3200400"/>
            <a:ext cx="5257440" cy="1599840"/>
          </a:xfrm>
          <a:prstGeom prst="roundRect">
            <a:avLst>
              <a:gd name="adj" fmla="val 4571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428160" y="3456360"/>
            <a:ext cx="502560" cy="50256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3" descr="/home/claude/work/icons_white/image-2-4.png"/>
          <p:cNvPicPr/>
          <p:nvPr/>
        </p:nvPicPr>
        <p:blipFill>
          <a:blip r:embed="rId4"/>
          <a:stretch/>
        </p:blipFill>
        <p:spPr>
          <a:xfrm>
            <a:off x="6483600" y="3511800"/>
            <a:ext cx="392040" cy="39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6"/>
          <p:cNvSpPr/>
          <p:nvPr/>
        </p:nvSpPr>
        <p:spPr>
          <a:xfrm>
            <a:off x="7086600" y="34016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Limited Visibility into Skills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6446520" y="406908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Leadership lacks a consolidated view of skill availability and deployment priorities.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594360" y="5029200"/>
            <a:ext cx="10972440" cy="685440"/>
          </a:xfrm>
          <a:prstGeom prst="roundRect">
            <a:avLst>
              <a:gd name="adj" fmla="val 10667"/>
            </a:avLst>
          </a:prstGeom>
          <a:solidFill>
            <a:srgbClr val="232D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914400" y="502920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y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: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k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z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,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y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,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y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q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k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y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y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502920" y="647388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CL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OV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ER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IN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FO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TE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CH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PV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T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LT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D 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• 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MI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NI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BE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NC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H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DE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PL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OY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ME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NT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SY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ST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11064240" y="644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91080" cy="6857640"/>
          </a:xfrm>
          <a:prstGeom prst="rect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94360" y="29268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32D28"/>
                </a:solidFill>
                <a:effectLst/>
                <a:uFillTx/>
                <a:latin typeface="Aptos Display"/>
                <a:ea typeface="Aptos Display"/>
              </a:rPr>
              <a:t>Solution Architecture &amp;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94360" y="960120"/>
            <a:ext cx="30020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INPUT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94360" y="1258560"/>
            <a:ext cx="3015360" cy="8539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756000" y="1418760"/>
            <a:ext cx="538200" cy="53388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/home/claude/work/icons_white/image-3-1.png"/>
          <p:cNvPicPr/>
          <p:nvPr/>
        </p:nvPicPr>
        <p:blipFill>
          <a:blip r:embed="rId1"/>
          <a:stretch/>
        </p:blipFill>
        <p:spPr>
          <a:xfrm>
            <a:off x="815040" y="1477800"/>
            <a:ext cx="420120" cy="41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5"/>
          <p:cNvSpPr/>
          <p:nvPr/>
        </p:nvSpPr>
        <p:spPr>
          <a:xfrm>
            <a:off x="1402200" y="1430640"/>
            <a:ext cx="204588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employees.csv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402200" y="1707480"/>
            <a:ext cx="204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Bench employee records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3933000" y="1258560"/>
            <a:ext cx="3015360" cy="8539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4094640" y="1418760"/>
            <a:ext cx="538200" cy="53388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1" descr="/home/claude/work/icons_white/image-3-2.png"/>
          <p:cNvPicPr/>
          <p:nvPr/>
        </p:nvPicPr>
        <p:blipFill>
          <a:blip r:embed="rId2"/>
          <a:stretch/>
        </p:blipFill>
        <p:spPr>
          <a:xfrm>
            <a:off x="4154040" y="1477800"/>
            <a:ext cx="419760" cy="41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9"/>
          <p:cNvSpPr/>
          <p:nvPr/>
        </p:nvSpPr>
        <p:spPr>
          <a:xfrm>
            <a:off x="4740840" y="1430640"/>
            <a:ext cx="204588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open_projects.csv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4740840" y="1707480"/>
            <a:ext cx="204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Open project requirements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7271640" y="1258560"/>
            <a:ext cx="3015360" cy="8539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7433280" y="1418760"/>
            <a:ext cx="538200" cy="53388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2" descr="/home/claude/work/icons_white/image-3-3.png"/>
          <p:cNvPicPr/>
          <p:nvPr/>
        </p:nvPicPr>
        <p:blipFill>
          <a:blip r:embed="rId3"/>
          <a:stretch/>
        </p:blipFill>
        <p:spPr>
          <a:xfrm>
            <a:off x="7492680" y="1477800"/>
            <a:ext cx="419760" cy="41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3"/>
          <p:cNvSpPr/>
          <p:nvPr/>
        </p:nvSpPr>
        <p:spPr>
          <a:xfrm>
            <a:off x="8079480" y="1430640"/>
            <a:ext cx="204588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total_employees.txt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8079480" y="1707480"/>
            <a:ext cx="204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Company headcount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594360" y="2294640"/>
            <a:ext cx="43077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PROCESSING 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594360" y="2615400"/>
            <a:ext cx="9692640" cy="4482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7"/>
          <p:cNvSpPr/>
          <p:nvPr/>
        </p:nvSpPr>
        <p:spPr>
          <a:xfrm>
            <a:off x="723600" y="2679480"/>
            <a:ext cx="322920" cy="31968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3" descr="/home/claude/work/icons_white/image-3-4.png"/>
          <p:cNvPicPr/>
          <p:nvPr/>
        </p:nvPicPr>
        <p:blipFill>
          <a:blip r:embed="rId4"/>
          <a:stretch/>
        </p:blipFill>
        <p:spPr>
          <a:xfrm>
            <a:off x="759240" y="2714760"/>
            <a:ext cx="251640" cy="2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8"/>
          <p:cNvSpPr/>
          <p:nvPr/>
        </p:nvSpPr>
        <p:spPr>
          <a:xfrm>
            <a:off x="1186560" y="2615400"/>
            <a:ext cx="247680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Data Extraction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3717720" y="2615400"/>
            <a:ext cx="635400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Read &amp; validate workforce and project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0"/>
          <p:cNvSpPr/>
          <p:nvPr/>
        </p:nvSpPr>
        <p:spPr>
          <a:xfrm>
            <a:off x="594360" y="3149640"/>
            <a:ext cx="9692640" cy="4478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1"/>
          <p:cNvSpPr/>
          <p:nvPr/>
        </p:nvSpPr>
        <p:spPr>
          <a:xfrm>
            <a:off x="723600" y="3213360"/>
            <a:ext cx="322920" cy="3200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4" descr="/home/claude/work/icons_white/image-3-5.png"/>
          <p:cNvPicPr/>
          <p:nvPr/>
        </p:nvPicPr>
        <p:blipFill>
          <a:blip r:embed="rId5"/>
          <a:stretch/>
        </p:blipFill>
        <p:spPr>
          <a:xfrm>
            <a:off x="759240" y="3248640"/>
            <a:ext cx="251640" cy="24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22"/>
          <p:cNvSpPr/>
          <p:nvPr/>
        </p:nvSpPr>
        <p:spPr>
          <a:xfrm>
            <a:off x="1186560" y="3149640"/>
            <a:ext cx="24768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Data Modeling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3717720" y="3149640"/>
            <a:ext cx="63540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Standardize employee and project entities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594360" y="3683520"/>
            <a:ext cx="9692640" cy="44856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723600" y="3747600"/>
            <a:ext cx="322920" cy="31968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5" descr="/home/claude/work/icons_white/image-3-6.png"/>
          <p:cNvPicPr/>
          <p:nvPr/>
        </p:nvPicPr>
        <p:blipFill>
          <a:blip r:embed="rId6"/>
          <a:stretch/>
        </p:blipFill>
        <p:spPr>
          <a:xfrm>
            <a:off x="759240" y="3782880"/>
            <a:ext cx="251640" cy="24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6"/>
          <p:cNvSpPr/>
          <p:nvPr/>
        </p:nvSpPr>
        <p:spPr>
          <a:xfrm>
            <a:off x="1186560" y="3683520"/>
            <a:ext cx="247680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Bench Analytics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3717720" y="3683520"/>
            <a:ext cx="635400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Calculate bench days and ageing priority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8"/>
          <p:cNvSpPr/>
          <p:nvPr/>
        </p:nvSpPr>
        <p:spPr>
          <a:xfrm>
            <a:off x="594360" y="4271040"/>
            <a:ext cx="9692640" cy="768600"/>
          </a:xfrm>
          <a:prstGeom prst="roundRect">
            <a:avLst>
              <a:gd name="adj" fmla="val 11111"/>
            </a:avLst>
          </a:prstGeom>
          <a:solidFill>
            <a:srgbClr val="EBF7E8"/>
          </a:solidFill>
          <a:ln w="19050">
            <a:solidFill>
              <a:srgbClr val="53A9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9"/>
          <p:cNvSpPr/>
          <p:nvPr/>
        </p:nvSpPr>
        <p:spPr>
          <a:xfrm>
            <a:off x="766440" y="4388400"/>
            <a:ext cx="538200" cy="533880"/>
          </a:xfrm>
          <a:prstGeom prst="ellipse">
            <a:avLst/>
          </a:prstGeom>
          <a:solidFill>
            <a:srgbClr val="232D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6" descr="/home/claude/work/icons_white/image-3-7.png"/>
          <p:cNvPicPr/>
          <p:nvPr/>
        </p:nvPicPr>
        <p:blipFill>
          <a:blip r:embed="rId7"/>
          <a:stretch/>
        </p:blipFill>
        <p:spPr>
          <a:xfrm>
            <a:off x="826200" y="4447440"/>
            <a:ext cx="419400" cy="41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30"/>
          <p:cNvSpPr/>
          <p:nvPr/>
        </p:nvSpPr>
        <p:spPr>
          <a:xfrm>
            <a:off x="1509840" y="4356720"/>
            <a:ext cx="850788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Skill Matching Engine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1509840" y="4655520"/>
            <a:ext cx="850788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Compare employee skills with project requirements and generate match scores, suitability, and deployment recommendations.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594360" y="5232600"/>
            <a:ext cx="3230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3"/>
          <p:cNvSpPr/>
          <p:nvPr/>
        </p:nvSpPr>
        <p:spPr>
          <a:xfrm>
            <a:off x="594360" y="5553360"/>
            <a:ext cx="4684680" cy="61884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4"/>
          <p:cNvSpPr/>
          <p:nvPr/>
        </p:nvSpPr>
        <p:spPr>
          <a:xfrm>
            <a:off x="745560" y="5649120"/>
            <a:ext cx="430200" cy="42696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7" descr="/home/claude/work/icons_white/image-3-8.png"/>
          <p:cNvPicPr/>
          <p:nvPr/>
        </p:nvPicPr>
        <p:blipFill>
          <a:blip r:embed="rId8"/>
          <a:stretch/>
        </p:blipFill>
        <p:spPr>
          <a:xfrm>
            <a:off x="792360" y="5695920"/>
            <a:ext cx="335520" cy="33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35"/>
          <p:cNvSpPr/>
          <p:nvPr/>
        </p:nvSpPr>
        <p:spPr>
          <a:xfrm>
            <a:off x="1294560" y="5585040"/>
            <a:ext cx="38228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Bench Ageing Report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1294560" y="5895000"/>
            <a:ext cx="38228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Priority view of long-idle talent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7"/>
          <p:cNvSpPr/>
          <p:nvPr/>
        </p:nvSpPr>
        <p:spPr>
          <a:xfrm>
            <a:off x="5602320" y="5553360"/>
            <a:ext cx="4684680" cy="61884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8"/>
          <p:cNvSpPr/>
          <p:nvPr/>
        </p:nvSpPr>
        <p:spPr>
          <a:xfrm>
            <a:off x="5753520" y="5649120"/>
            <a:ext cx="430560" cy="42696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8" descr="/home/claude/work/icons_white/image-3-9.png"/>
          <p:cNvPicPr/>
          <p:nvPr/>
        </p:nvPicPr>
        <p:blipFill>
          <a:blip r:embed="rId9"/>
          <a:stretch/>
        </p:blipFill>
        <p:spPr>
          <a:xfrm>
            <a:off x="5800320" y="5695920"/>
            <a:ext cx="335520" cy="33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39"/>
          <p:cNvSpPr/>
          <p:nvPr/>
        </p:nvSpPr>
        <p:spPr>
          <a:xfrm>
            <a:off x="6302520" y="5585040"/>
            <a:ext cx="38228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CSV Export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0"/>
          <p:cNvSpPr/>
          <p:nvPr/>
        </p:nvSpPr>
        <p:spPr>
          <a:xfrm>
            <a:off x="6302520" y="5895000"/>
            <a:ext cx="38228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Exportable staffing insights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4"/>
          <p:cNvSpPr/>
          <p:nvPr/>
        </p:nvSpPr>
        <p:spPr>
          <a:xfrm>
            <a:off x="502920" y="647388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CLOVER INFOTECH PVT LTD  •  MINI </a:t>
            </a: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BENCH DEPLOYMENT SYSTEM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5"/>
          <p:cNvSpPr/>
          <p:nvPr/>
        </p:nvSpPr>
        <p:spPr>
          <a:xfrm>
            <a:off x="11064240" y="644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5"/>
          <p:cNvSpPr/>
          <p:nvPr/>
        </p:nvSpPr>
        <p:spPr>
          <a:xfrm>
            <a:off x="0" y="0"/>
            <a:ext cx="91080" cy="6857640"/>
          </a:xfrm>
          <a:prstGeom prst="rect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8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2D28"/>
                </a:solidFill>
                <a:effectLst/>
                <a:uFillTx/>
                <a:latin typeface="Aptos Display"/>
                <a:ea typeface="Aptos Display"/>
              </a:rPr>
              <a:t>Skill Matching &amp; Tier Classification Logic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502920" y="1371600"/>
            <a:ext cx="5394600" cy="5102280"/>
          </a:xfrm>
          <a:prstGeom prst="roundRect">
            <a:avLst>
              <a:gd name="adj" fmla="val 1869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3"/>
          <p:cNvSpPr/>
          <p:nvPr/>
        </p:nvSpPr>
        <p:spPr>
          <a:xfrm>
            <a:off x="777240" y="1627560"/>
            <a:ext cx="383760" cy="38376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9" descr="/home/claude/work/icons_white/image-2-3.png"/>
          <p:cNvPicPr/>
          <p:nvPr/>
        </p:nvPicPr>
        <p:blipFill>
          <a:blip r:embed="rId1"/>
          <a:stretch/>
        </p:blipFill>
        <p:spPr>
          <a:xfrm>
            <a:off x="819360" y="1670040"/>
            <a:ext cx="29916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29"/>
          <p:cNvSpPr/>
          <p:nvPr/>
        </p:nvSpPr>
        <p:spPr>
          <a:xfrm>
            <a:off x="1280160" y="1600200"/>
            <a:ext cx="4388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Example Scenario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6"/>
          <p:cNvSpPr/>
          <p:nvPr/>
        </p:nvSpPr>
        <p:spPr>
          <a:xfrm>
            <a:off x="777240" y="2240280"/>
            <a:ext cx="484596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3"/>
          <p:cNvSpPr/>
          <p:nvPr/>
        </p:nvSpPr>
        <p:spPr>
          <a:xfrm>
            <a:off x="1005840" y="2240280"/>
            <a:ext cx="2422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Project Requirements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4"/>
          <p:cNvSpPr/>
          <p:nvPr/>
        </p:nvSpPr>
        <p:spPr>
          <a:xfrm>
            <a:off x="3200400" y="2240280"/>
            <a:ext cx="232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Python, SQL, AWS, Docker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7"/>
          <p:cNvSpPr/>
          <p:nvPr/>
        </p:nvSpPr>
        <p:spPr>
          <a:xfrm>
            <a:off x="777240" y="3273480"/>
            <a:ext cx="484596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7"/>
          <p:cNvSpPr/>
          <p:nvPr/>
        </p:nvSpPr>
        <p:spPr>
          <a:xfrm>
            <a:off x="1005840" y="3273480"/>
            <a:ext cx="2422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Employee Known Skills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8"/>
          <p:cNvSpPr/>
          <p:nvPr/>
        </p:nvSpPr>
        <p:spPr>
          <a:xfrm>
            <a:off x="3200400" y="3273480"/>
            <a:ext cx="232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Python, SQL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0"/>
          <p:cNvSpPr/>
          <p:nvPr/>
        </p:nvSpPr>
        <p:spPr>
          <a:xfrm>
            <a:off x="777240" y="4306680"/>
            <a:ext cx="484596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1"/>
          <p:cNvSpPr/>
          <p:nvPr/>
        </p:nvSpPr>
        <p:spPr>
          <a:xfrm>
            <a:off x="1005840" y="4306680"/>
            <a:ext cx="2422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Employee Learning Skills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2"/>
          <p:cNvSpPr/>
          <p:nvPr/>
        </p:nvSpPr>
        <p:spPr>
          <a:xfrm>
            <a:off x="3200400" y="4306680"/>
            <a:ext cx="232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AWS, Docker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1"/>
          <p:cNvSpPr/>
          <p:nvPr/>
        </p:nvSpPr>
        <p:spPr>
          <a:xfrm>
            <a:off x="777240" y="5340240"/>
            <a:ext cx="484596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1005840" y="5340240"/>
            <a:ext cx="2422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Total Required Count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4"/>
          <p:cNvSpPr/>
          <p:nvPr/>
        </p:nvSpPr>
        <p:spPr>
          <a:xfrm>
            <a:off x="3200400" y="5340240"/>
            <a:ext cx="232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4 Skills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2"/>
          <p:cNvSpPr/>
          <p:nvPr/>
        </p:nvSpPr>
        <p:spPr>
          <a:xfrm>
            <a:off x="6172200" y="1371600"/>
            <a:ext cx="5513400" cy="5029200"/>
          </a:xfrm>
          <a:prstGeom prst="roundRect">
            <a:avLst>
              <a:gd name="adj" fmla="val 1869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5"/>
          <p:cNvSpPr/>
          <p:nvPr/>
        </p:nvSpPr>
        <p:spPr>
          <a:xfrm>
            <a:off x="6446520" y="1627560"/>
            <a:ext cx="383760" cy="38376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10" descr="/home/claude/work/icons_white/image-3-8.png"/>
          <p:cNvPicPr/>
          <p:nvPr/>
        </p:nvPicPr>
        <p:blipFill>
          <a:blip r:embed="rId2"/>
          <a:stretch/>
        </p:blipFill>
        <p:spPr>
          <a:xfrm>
            <a:off x="6488640" y="1670040"/>
            <a:ext cx="29916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45"/>
          <p:cNvSpPr/>
          <p:nvPr/>
        </p:nvSpPr>
        <p:spPr>
          <a:xfrm>
            <a:off x="6949440" y="1600200"/>
            <a:ext cx="450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Evaluation &amp; Scoring Result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6"/>
          <p:cNvSpPr/>
          <p:nvPr/>
        </p:nvSpPr>
        <p:spPr>
          <a:xfrm>
            <a:off x="6446520" y="2240280"/>
            <a:ext cx="310680" cy="31068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6"/>
          <p:cNvSpPr/>
          <p:nvPr/>
        </p:nvSpPr>
        <p:spPr>
          <a:xfrm>
            <a:off x="6446520" y="2240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7"/>
          <p:cNvSpPr/>
          <p:nvPr/>
        </p:nvSpPr>
        <p:spPr>
          <a:xfrm>
            <a:off x="6903720" y="2212920"/>
            <a:ext cx="450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Current Match (Drives Status Tier)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8"/>
          <p:cNvSpPr/>
          <p:nvPr/>
        </p:nvSpPr>
        <p:spPr>
          <a:xfrm>
            <a:off x="6903720" y="2642760"/>
            <a:ext cx="450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2 matched known skills / 4 required = </a:t>
            </a:r>
            <a:r>
              <a:rPr lang="en-US" sz="12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50% (current pct)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9"/>
          <p:cNvSpPr/>
          <p:nvPr/>
        </p:nvSpPr>
        <p:spPr>
          <a:xfrm>
            <a:off x="6903720" y="3026520"/>
            <a:ext cx="450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Result: </a:t>
            </a:r>
            <a:r>
              <a:rPr lang="en-US" sz="12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Needs Minimal Upskilling</a:t>
            </a: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 (50% ≤ 50% &lt; 80%)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9"/>
          <p:cNvSpPr/>
          <p:nvPr/>
        </p:nvSpPr>
        <p:spPr>
          <a:xfrm>
            <a:off x="6446520" y="3520440"/>
            <a:ext cx="4965120" cy="360"/>
          </a:xfrm>
          <a:prstGeom prst="line">
            <a:avLst/>
          </a:prstGeom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0"/>
          <p:cNvSpPr/>
          <p:nvPr/>
        </p:nvSpPr>
        <p:spPr>
          <a:xfrm>
            <a:off x="6446520" y="3684960"/>
            <a:ext cx="310680" cy="31068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0"/>
          <p:cNvSpPr/>
          <p:nvPr/>
        </p:nvSpPr>
        <p:spPr>
          <a:xfrm>
            <a:off x="6446520" y="36849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1"/>
          <p:cNvSpPr/>
          <p:nvPr/>
        </p:nvSpPr>
        <p:spPr>
          <a:xfrm>
            <a:off x="6903720" y="3657600"/>
            <a:ext cx="450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Weighted Score (Tiebreaker Only)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2"/>
          <p:cNvSpPr/>
          <p:nvPr/>
        </p:nvSpPr>
        <p:spPr>
          <a:xfrm>
            <a:off x="6903720" y="4087440"/>
            <a:ext cx="450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(2 known × 1.0) + (2 learning × 0.6) = 3.2 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3"/>
          <p:cNvSpPr/>
          <p:nvPr/>
        </p:nvSpPr>
        <p:spPr>
          <a:xfrm>
            <a:off x="6903720" y="4471560"/>
            <a:ext cx="450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Weighted Score = </a:t>
            </a:r>
            <a:r>
              <a:rPr lang="en-US" sz="12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80.00%</a:t>
            </a: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 (Learning skills grant partial credit)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1"/>
          <p:cNvSpPr/>
          <p:nvPr/>
        </p:nvSpPr>
        <p:spPr>
          <a:xfrm>
            <a:off x="6446520" y="4965120"/>
            <a:ext cx="4965120" cy="360"/>
          </a:xfrm>
          <a:prstGeom prst="line">
            <a:avLst/>
          </a:prstGeom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2"/>
          <p:cNvSpPr/>
          <p:nvPr/>
        </p:nvSpPr>
        <p:spPr>
          <a:xfrm>
            <a:off x="6446520" y="5129640"/>
            <a:ext cx="310680" cy="31068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6"/>
          <p:cNvSpPr/>
          <p:nvPr/>
        </p:nvSpPr>
        <p:spPr>
          <a:xfrm>
            <a:off x="6446520" y="5129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7"/>
          <p:cNvSpPr/>
          <p:nvPr/>
        </p:nvSpPr>
        <p:spPr>
          <a:xfrm>
            <a:off x="6903720" y="5102280"/>
            <a:ext cx="450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Missing Skills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8"/>
          <p:cNvSpPr/>
          <p:nvPr/>
        </p:nvSpPr>
        <p:spPr>
          <a:xfrm>
            <a:off x="6903720" y="5532120"/>
            <a:ext cx="450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Gaps identified: </a:t>
            </a:r>
            <a:r>
              <a:rPr lang="en-US" sz="12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AWS, Docker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9"/>
          <p:cNvSpPr/>
          <p:nvPr/>
        </p:nvSpPr>
        <p:spPr>
          <a:xfrm>
            <a:off x="6903720" y="5916240"/>
            <a:ext cx="450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Learning skills do not bypass missing skill gaps for classification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0"/>
          <p:cNvSpPr/>
          <p:nvPr/>
        </p:nvSpPr>
        <p:spPr>
          <a:xfrm>
            <a:off x="502920" y="647388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CLOVER INFOTECH PVT LTD  •  MINI BENCH DEPLOYMENT SYSTEM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1"/>
          <p:cNvSpPr/>
          <p:nvPr/>
        </p:nvSpPr>
        <p:spPr>
          <a:xfrm>
            <a:off x="11064240" y="644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91080" cy="6857640"/>
          </a:xfrm>
          <a:prstGeom prst="rect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594360" y="3841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2D28"/>
                </a:solidFill>
                <a:effectLst/>
                <a:uFillTx/>
                <a:latin typeface="Aptos Display"/>
                <a:ea typeface="Aptos Display"/>
              </a:rPr>
              <a:t>Business Impact &amp; Leadership Benefits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594360" y="1417320"/>
            <a:ext cx="5257440" cy="3931560"/>
          </a:xfrm>
          <a:prstGeom prst="roundRect">
            <a:avLst>
              <a:gd name="adj" fmla="val 1860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914400" y="16916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Operational Benefits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914400" y="2377440"/>
            <a:ext cx="456840" cy="4568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/home/claude/work/icons_white/image-4-1.png"/>
          <p:cNvPicPr/>
          <p:nvPr/>
        </p:nvPicPr>
        <p:blipFill>
          <a:blip r:embed="rId1"/>
          <a:stretch/>
        </p:blipFill>
        <p:spPr>
          <a:xfrm>
            <a:off x="964800" y="242784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5"/>
          <p:cNvSpPr/>
          <p:nvPr/>
        </p:nvSpPr>
        <p:spPr>
          <a:xfrm>
            <a:off x="1554480" y="233172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Faster staffing decisions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914400" y="3127320"/>
            <a:ext cx="456840" cy="4568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1" descr="/home/claude/work/icons_white/image-4-2.png"/>
          <p:cNvPicPr/>
          <p:nvPr/>
        </p:nvPicPr>
        <p:blipFill>
          <a:blip r:embed="rId2"/>
          <a:stretch/>
        </p:blipFill>
        <p:spPr>
          <a:xfrm>
            <a:off x="964800" y="317772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7"/>
          <p:cNvSpPr/>
          <p:nvPr/>
        </p:nvSpPr>
        <p:spPr>
          <a:xfrm>
            <a:off x="1554480" y="308160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Improved bench utilization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914400" y="3877200"/>
            <a:ext cx="456840" cy="4568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2" descr="/home/claude/work/icons_white/image-4-3.png"/>
          <p:cNvPicPr/>
          <p:nvPr/>
        </p:nvPicPr>
        <p:blipFill>
          <a:blip r:embed="rId3"/>
          <a:stretch/>
        </p:blipFill>
        <p:spPr>
          <a:xfrm>
            <a:off x="964800" y="392724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9"/>
          <p:cNvSpPr/>
          <p:nvPr/>
        </p:nvSpPr>
        <p:spPr>
          <a:xfrm>
            <a:off x="1554480" y="383148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Reduced manual effort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914400" y="4626720"/>
            <a:ext cx="456840" cy="4568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3" descr="/home/claude/work/icons_white/image-4-4.png"/>
          <p:cNvPicPr/>
          <p:nvPr/>
        </p:nvPicPr>
        <p:blipFill>
          <a:blip r:embed="rId4"/>
          <a:stretch/>
        </p:blipFill>
        <p:spPr>
          <a:xfrm>
            <a:off x="964800" y="467712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11"/>
          <p:cNvSpPr/>
          <p:nvPr/>
        </p:nvSpPr>
        <p:spPr>
          <a:xfrm>
            <a:off x="1554480" y="458100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Better deployment transparency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6172200" y="1417320"/>
            <a:ext cx="5257440" cy="3931560"/>
          </a:xfrm>
          <a:prstGeom prst="roundRect">
            <a:avLst>
              <a:gd name="adj" fmla="val 1860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6492240" y="16916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Leadership Benefits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6492240" y="2377440"/>
            <a:ext cx="456840" cy="4568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4" descr="/home/claude/work/icons_white/image-4-5.png"/>
          <p:cNvPicPr/>
          <p:nvPr/>
        </p:nvPicPr>
        <p:blipFill>
          <a:blip r:embed="rId5"/>
          <a:stretch/>
        </p:blipFill>
        <p:spPr>
          <a:xfrm>
            <a:off x="6542640" y="242784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15"/>
          <p:cNvSpPr/>
          <p:nvPr/>
        </p:nvSpPr>
        <p:spPr>
          <a:xfrm>
            <a:off x="7132320" y="233172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Data-driven workforce planning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6"/>
          <p:cNvSpPr/>
          <p:nvPr/>
        </p:nvSpPr>
        <p:spPr>
          <a:xfrm>
            <a:off x="6492240" y="3127320"/>
            <a:ext cx="456840" cy="4568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5" descr="/home/claude/work/icons_white/image-4-6.png"/>
          <p:cNvPicPr/>
          <p:nvPr/>
        </p:nvPicPr>
        <p:blipFill>
          <a:blip r:embed="rId6"/>
          <a:stretch/>
        </p:blipFill>
        <p:spPr>
          <a:xfrm>
            <a:off x="6542640" y="317772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 17"/>
          <p:cNvSpPr/>
          <p:nvPr/>
        </p:nvSpPr>
        <p:spPr>
          <a:xfrm>
            <a:off x="7132320" y="308160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Early identification of critical bench cases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6492240" y="3877200"/>
            <a:ext cx="456840" cy="4568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6" descr="/home/claude/work/icons_white/image-4-7.png"/>
          <p:cNvPicPr/>
          <p:nvPr/>
        </p:nvPicPr>
        <p:blipFill>
          <a:blip r:embed="rId7"/>
          <a:stretch/>
        </p:blipFill>
        <p:spPr>
          <a:xfrm>
            <a:off x="6542640" y="392724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19"/>
          <p:cNvSpPr/>
          <p:nvPr/>
        </p:nvSpPr>
        <p:spPr>
          <a:xfrm>
            <a:off x="7132320" y="383148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Better project readiness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0"/>
          <p:cNvSpPr/>
          <p:nvPr/>
        </p:nvSpPr>
        <p:spPr>
          <a:xfrm>
            <a:off x="6492240" y="4626720"/>
            <a:ext cx="456840" cy="456840"/>
          </a:xfrm>
          <a:prstGeom prst="ellipse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7" descr="/home/claude/work/icons_white/image-4-8.png"/>
          <p:cNvPicPr/>
          <p:nvPr/>
        </p:nvPicPr>
        <p:blipFill>
          <a:blip r:embed="rId8"/>
          <a:stretch/>
        </p:blipFill>
        <p:spPr>
          <a:xfrm>
            <a:off x="6542640" y="467712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21"/>
          <p:cNvSpPr/>
          <p:nvPr/>
        </p:nvSpPr>
        <p:spPr>
          <a:xfrm>
            <a:off x="7132320" y="458100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Improved talent utilization strategy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2"/>
          <p:cNvSpPr/>
          <p:nvPr/>
        </p:nvSpPr>
        <p:spPr>
          <a:xfrm>
            <a:off x="594360" y="5532120"/>
            <a:ext cx="10972440" cy="594000"/>
          </a:xfrm>
          <a:prstGeom prst="roundRect">
            <a:avLst>
              <a:gd name="adj" fmla="val 12308"/>
            </a:avLst>
          </a:prstGeom>
          <a:solidFill>
            <a:srgbClr val="232D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3"/>
          <p:cNvSpPr/>
          <p:nvPr/>
        </p:nvSpPr>
        <p:spPr>
          <a:xfrm>
            <a:off x="914400" y="553212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Transforms workforce deployment from a reactive process into a proactive management capability.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4"/>
          <p:cNvSpPr/>
          <p:nvPr/>
        </p:nvSpPr>
        <p:spPr>
          <a:xfrm>
            <a:off x="502920" y="647388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CLOVER INFOTECH PVT LTD  •  MINI BENCH DEPLOYMENT SYSTEM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5"/>
          <p:cNvSpPr/>
          <p:nvPr/>
        </p:nvSpPr>
        <p:spPr>
          <a:xfrm>
            <a:off x="11064240" y="644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080" cy="6857640"/>
          </a:xfrm>
          <a:prstGeom prst="rect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594360" y="3841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32D28"/>
                </a:solidFill>
                <a:effectLst/>
                <a:uFillTx/>
                <a:latin typeface="Aptos Display"/>
                <a:ea typeface="Aptos Display"/>
              </a:rPr>
              <a:t>Strategic Roadmap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594360" y="1417320"/>
            <a:ext cx="3520080" cy="3977280"/>
          </a:xfrm>
          <a:prstGeom prst="roundRect">
            <a:avLst>
              <a:gd name="adj" fmla="val 2597"/>
            </a:avLst>
          </a:prstGeom>
          <a:solidFill>
            <a:srgbClr val="232D28"/>
          </a:solidFill>
          <a:ln w="12700">
            <a:solidFill>
              <a:srgbClr val="232D28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868680" y="1691640"/>
            <a:ext cx="2971440" cy="365400"/>
          </a:xfrm>
          <a:prstGeom prst="roundRect">
            <a:avLst>
              <a:gd name="adj" fmla="val 50000"/>
            </a:avLst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868680" y="16916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CURRENT STAGE  •  LIVE MVP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868680" y="228600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Phase 1: Current MVP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868680" y="288036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35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CSV-based intelligent skill matching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Bench analytics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Deployment recommendation engine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868680" y="4206240"/>
            <a:ext cx="2971800" cy="360"/>
          </a:xfrm>
          <a:prstGeom prst="line">
            <a:avLst/>
          </a:prstGeom>
          <a:ln w="9525">
            <a:solidFill>
              <a:srgbClr val="465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868680" y="4343400"/>
            <a:ext cx="2971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The current MVP is already operational and demonstrates the core workforce deployment capability.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9"/>
          <p:cNvSpPr/>
          <p:nvPr/>
        </p:nvSpPr>
        <p:spPr>
          <a:xfrm>
            <a:off x="4343400" y="1417320"/>
            <a:ext cx="3520080" cy="3977280"/>
          </a:xfrm>
          <a:prstGeom prst="roundRect">
            <a:avLst>
              <a:gd name="adj" fmla="val 2597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4617720" y="1691640"/>
            <a:ext cx="2971440" cy="365400"/>
          </a:xfrm>
          <a:prstGeom prst="roundRect">
            <a:avLst>
              <a:gd name="adj" fmla="val 50000"/>
            </a:avLst>
          </a:prstGeom>
          <a:solidFill>
            <a:srgbClr val="C8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4617720" y="16916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UPCOMING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4617720" y="228600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Phase 2: Web Platform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4617720" y="288036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35000"/>
              </a:lnSpc>
              <a:buClr>
                <a:srgbClr val="5B666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Interactive dashboard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buClr>
                <a:srgbClr val="5B666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Notifications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buClr>
                <a:srgbClr val="5B666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Role-based access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8092440" y="1417320"/>
            <a:ext cx="3520080" cy="3977280"/>
          </a:xfrm>
          <a:prstGeom prst="roundRect">
            <a:avLst>
              <a:gd name="adj" fmla="val 2597"/>
            </a:avLst>
          </a:prstGeom>
          <a:solidFill>
            <a:srgbClr val="F4F7F5"/>
          </a:solidFill>
          <a:ln w="12700">
            <a:solidFill>
              <a:srgbClr val="D7E1DA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5"/>
          <p:cNvSpPr/>
          <p:nvPr/>
        </p:nvSpPr>
        <p:spPr>
          <a:xfrm>
            <a:off x="8366760" y="1691640"/>
            <a:ext cx="2971440" cy="365400"/>
          </a:xfrm>
          <a:prstGeom prst="roundRect">
            <a:avLst>
              <a:gd name="adj" fmla="val 50000"/>
            </a:avLst>
          </a:prstGeom>
          <a:solidFill>
            <a:srgbClr val="C8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8366760" y="16916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UPCOMING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8366760" y="228600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Phase 3: AI-Driven Intelligence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8366760" y="288036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35000"/>
              </a:lnSpc>
              <a:buClr>
                <a:srgbClr val="5B666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AI recommendations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buClr>
                <a:srgbClr val="5B666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Utilization forecasting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buClr>
                <a:srgbClr val="5B666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Enterprise integration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914400" y="562356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Mini Bench Deployment System enables Clover Infotech to improve workforce utilization, accelerate project staffing, and build a scalable talent deployment capability for future growth.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502920" y="647388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CLOVER INFOTECH PVT LTD  •  MINI BENCH DEPLOYMENT SYSTEM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11064240" y="644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Image 13" descr="/home/claude/work/ppt1_unpacked/ppt/media/image1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Shape 13"/>
          <p:cNvSpPr/>
          <p:nvPr/>
        </p:nvSpPr>
        <p:spPr>
          <a:xfrm>
            <a:off x="0" y="0"/>
            <a:ext cx="91080" cy="6857640"/>
          </a:xfrm>
          <a:prstGeom prst="rect">
            <a:avLst/>
          </a:prstGeom>
          <a:solidFill>
            <a:srgbClr val="53A9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2"/>
          <p:cNvSpPr/>
          <p:nvPr/>
        </p:nvSpPr>
        <p:spPr>
          <a:xfrm>
            <a:off x="594360" y="38412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3A943"/>
                </a:solidFill>
                <a:effectLst/>
                <a:uFillTx/>
                <a:latin typeface="Aptos"/>
                <a:ea typeface="Aptos"/>
              </a:rPr>
              <a:t>CLOVER INFOTECH PVT LTD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 11" descr="/home/claude/work/ppt1_unpacked/ppt/media/image2.png"/>
          <p:cNvPicPr/>
          <p:nvPr/>
        </p:nvPicPr>
        <p:blipFill>
          <a:blip r:embed="rId2"/>
          <a:stretch/>
        </p:blipFill>
        <p:spPr>
          <a:xfrm>
            <a:off x="8732520" y="384120"/>
            <a:ext cx="26514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 63"/>
          <p:cNvSpPr/>
          <p:nvPr/>
        </p:nvSpPr>
        <p:spPr>
          <a:xfrm>
            <a:off x="621720" y="1234440"/>
            <a:ext cx="7314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53A943"/>
                </a:solidFill>
                <a:effectLst/>
                <a:uFillTx/>
                <a:latin typeface="Aptos Display"/>
                <a:ea typeface="Aptos Display"/>
              </a:rPr>
              <a:t>Thank You!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4"/>
          <p:cNvSpPr/>
          <p:nvPr/>
        </p:nvSpPr>
        <p:spPr>
          <a:xfrm>
            <a:off x="658440" y="196596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Mini Bench Deployment System  —  Intelligent Workforce Deployment &amp; Bench Optimization Platform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3"/>
          <p:cNvSpPr/>
          <p:nvPr/>
        </p:nvSpPr>
        <p:spPr>
          <a:xfrm>
            <a:off x="658080" y="5285160"/>
            <a:ext cx="10881360" cy="360"/>
          </a:xfrm>
          <a:prstGeom prst="line">
            <a:avLst/>
          </a:prstGeom>
          <a:ln w="12700">
            <a:solidFill>
              <a:srgbClr val="D7E1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65"/>
          <p:cNvSpPr/>
          <p:nvPr/>
        </p:nvSpPr>
        <p:spPr>
          <a:xfrm>
            <a:off x="658440" y="54954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5B6660"/>
                </a:solidFill>
                <a:effectLst/>
                <a:uFillTx/>
                <a:latin typeface="Aptos"/>
                <a:ea typeface="Aptos"/>
              </a:rPr>
              <a:t>PROJECT TEAM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6"/>
          <p:cNvSpPr/>
          <p:nvPr/>
        </p:nvSpPr>
        <p:spPr>
          <a:xfrm>
            <a:off x="658440" y="576972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2D28"/>
                </a:solidFill>
                <a:effectLst/>
                <a:uFillTx/>
                <a:latin typeface="Aptos"/>
                <a:ea typeface="Aptos"/>
              </a:rPr>
              <a:t>Om Chaudhari  •  Vaibhav Mishra  •  Vaibhav Nhayade  •  Swapnil Mayavanshi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2026-08-14T07:08:20Z</dcterms:created>
  <dc:creator>PptxGenJS</dc:creator>
  <dc:description/>
  <dc:language>en-US</dc:language>
  <cp:lastModifiedBy/>
  <dcterms:modified xsi:type="dcterms:W3CDTF">2026-08-16T20:09:10Z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